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Lst>
  <p:sldSz cx="18288000" cy="10287000"/>
  <p:notesSz cx="6858000" cy="9144000"/>
  <p:embeddedFontLst>
    <p:embeddedFont>
      <p:font typeface="OSP Le Patin Helvete" panose="020B0604020202020204" charset="-128"/>
      <p:regular r:id="rId19"/>
    </p:embeddedFont>
    <p:embeddedFont>
      <p:font typeface="Muli" panose="020B0604020202020204" charset="0"/>
      <p:regular r:id="rId20"/>
    </p:embeddedFont>
    <p:embeddedFont>
      <p:font typeface="Muli Bold" panose="020B0604020202020204" charset="0"/>
      <p:regular r:id="rId21"/>
    </p:embeddedFont>
    <p:embeddedFont>
      <p:font typeface="Muli Extra-Light" panose="020B0604020202020204" charset="0"/>
      <p:regular r:id="rId22"/>
    </p:embeddedFont>
    <p:embeddedFont>
      <p:font typeface="Muli Semi-Bold" panose="020B0604020202020204" charset="0"/>
      <p:regular r:id="rId23"/>
    </p:embeddedFont>
    <p:embeddedFont>
      <p:font typeface="Oswald" panose="020F0502020204030204"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955"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30"/>
        </a:solidFill>
        <a:effectLst/>
      </p:bgPr>
    </p:bg>
    <p:spTree>
      <p:nvGrpSpPr>
        <p:cNvPr id="1" name=""/>
        <p:cNvGrpSpPr/>
        <p:nvPr/>
      </p:nvGrpSpPr>
      <p:grpSpPr>
        <a:xfrm>
          <a:off x="0" y="0"/>
          <a:ext cx="0" cy="0"/>
          <a:chOff x="0" y="0"/>
          <a:chExt cx="0" cy="0"/>
        </a:xfrm>
      </p:grpSpPr>
      <p:sp>
        <p:nvSpPr>
          <p:cNvPr id="2" name="Freeform 2"/>
          <p:cNvSpPr/>
          <p:nvPr/>
        </p:nvSpPr>
        <p:spPr>
          <a:xfrm>
            <a:off x="11180700" y="-3859157"/>
            <a:ext cx="6558303" cy="6522531"/>
          </a:xfrm>
          <a:custGeom>
            <a:avLst/>
            <a:gdLst/>
            <a:ahLst/>
            <a:cxnLst/>
            <a:rect l="l" t="t" r="r" b="b"/>
            <a:pathLst>
              <a:path w="6558303" h="6522531">
                <a:moveTo>
                  <a:pt x="0" y="0"/>
                </a:moveTo>
                <a:lnTo>
                  <a:pt x="6558303" y="0"/>
                </a:lnTo>
                <a:lnTo>
                  <a:pt x="6558303" y="6522531"/>
                </a:lnTo>
                <a:lnTo>
                  <a:pt x="0" y="6522531"/>
                </a:lnTo>
                <a:lnTo>
                  <a:pt x="0" y="0"/>
                </a:lnTo>
                <a:close/>
              </a:path>
            </a:pathLst>
          </a:custGeom>
          <a:blipFill>
            <a:blip r:embed="rId2">
              <a:alphaModFix amt="62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2792960" y="6781134"/>
            <a:ext cx="6558303" cy="6522531"/>
          </a:xfrm>
          <a:custGeom>
            <a:avLst/>
            <a:gdLst/>
            <a:ahLst/>
            <a:cxnLst/>
            <a:rect l="l" t="t" r="r" b="b"/>
            <a:pathLst>
              <a:path w="6558303" h="6522531">
                <a:moveTo>
                  <a:pt x="0" y="0"/>
                </a:moveTo>
                <a:lnTo>
                  <a:pt x="6558303" y="0"/>
                </a:lnTo>
                <a:lnTo>
                  <a:pt x="6558303" y="6522531"/>
                </a:lnTo>
                <a:lnTo>
                  <a:pt x="0" y="6522531"/>
                </a:lnTo>
                <a:lnTo>
                  <a:pt x="0" y="0"/>
                </a:lnTo>
                <a:close/>
              </a:path>
            </a:pathLst>
          </a:custGeom>
          <a:blipFill>
            <a:blip r:embed="rId2">
              <a:alphaModFix amt="62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684334" y="2963863"/>
            <a:ext cx="14778009" cy="2636737"/>
          </a:xfrm>
          <a:prstGeom prst="rect">
            <a:avLst/>
          </a:prstGeom>
        </p:spPr>
        <p:txBody>
          <a:bodyPr lIns="0" tIns="0" rIns="0" bIns="0" rtlCol="0" anchor="t">
            <a:spAutoFit/>
          </a:bodyPr>
          <a:lstStyle/>
          <a:p>
            <a:pPr algn="ctr">
              <a:lnSpc>
                <a:spcPts val="10593"/>
              </a:lnSpc>
            </a:pPr>
            <a:r>
              <a:rPr lang="en-US" sz="7566">
                <a:solidFill>
                  <a:srgbClr val="FF7C64"/>
                </a:solidFill>
                <a:latin typeface="OSP Le Patin Helvete"/>
                <a:ea typeface="OSP Le Patin Helvete"/>
                <a:cs typeface="OSP Le Patin Helvete"/>
                <a:sym typeface="OSP Le Patin Helvete"/>
              </a:rPr>
              <a:t>NGIÊN CỨU VÀ TRÌNH BÀY KÊNH ĐIỀU KHIỂN GSM</a:t>
            </a:r>
          </a:p>
        </p:txBody>
      </p:sp>
      <p:sp>
        <p:nvSpPr>
          <p:cNvPr id="5" name="TextBox 5"/>
          <p:cNvSpPr txBox="1"/>
          <p:nvPr/>
        </p:nvSpPr>
        <p:spPr>
          <a:xfrm>
            <a:off x="2643618" y="7261370"/>
            <a:ext cx="13000764" cy="743858"/>
          </a:xfrm>
          <a:prstGeom prst="rect">
            <a:avLst/>
          </a:prstGeom>
        </p:spPr>
        <p:txBody>
          <a:bodyPr wrap="square" lIns="0" tIns="0" rIns="0" bIns="0" rtlCol="0" anchor="t">
            <a:spAutoFit/>
          </a:bodyPr>
          <a:lstStyle/>
          <a:p>
            <a:pPr algn="ctr">
              <a:lnSpc>
                <a:spcPts val="6299"/>
              </a:lnSpc>
              <a:spcBef>
                <a:spcPct val="0"/>
              </a:spcBef>
            </a:pPr>
            <a:r>
              <a:rPr lang="en-US" sz="4499" b="1" dirty="0" err="1">
                <a:solidFill>
                  <a:srgbClr val="FFFFFF"/>
                </a:solidFill>
                <a:latin typeface="Muli Bold"/>
                <a:ea typeface="Muli Bold"/>
                <a:cs typeface="Muli Bold"/>
                <a:sym typeface="Muli Bold"/>
              </a:rPr>
              <a:t>Giảng</a:t>
            </a:r>
            <a:r>
              <a:rPr lang="en-US" sz="4499" b="1" dirty="0">
                <a:solidFill>
                  <a:srgbClr val="FFFFFF"/>
                </a:solidFill>
                <a:latin typeface="Muli Bold"/>
                <a:ea typeface="Muli Bold"/>
                <a:cs typeface="Muli Bold"/>
                <a:sym typeface="Muli Bold"/>
              </a:rPr>
              <a:t> </a:t>
            </a:r>
            <a:r>
              <a:rPr lang="en-US" sz="4499" b="1" dirty="0" err="1">
                <a:solidFill>
                  <a:srgbClr val="FFFFFF"/>
                </a:solidFill>
                <a:latin typeface="Muli Bold"/>
                <a:ea typeface="Muli Bold"/>
                <a:cs typeface="Muli Bold"/>
                <a:sym typeface="Muli Bold"/>
              </a:rPr>
              <a:t>viên</a:t>
            </a:r>
            <a:r>
              <a:rPr lang="en-US" sz="4499" b="1" dirty="0">
                <a:solidFill>
                  <a:srgbClr val="FFFFFF"/>
                </a:solidFill>
                <a:latin typeface="Muli Bold"/>
                <a:ea typeface="Muli Bold"/>
                <a:cs typeface="Muli Bold"/>
                <a:sym typeface="Muli Bold"/>
              </a:rPr>
              <a:t> </a:t>
            </a:r>
            <a:r>
              <a:rPr lang="en-US" sz="4499" b="1" dirty="0" err="1">
                <a:solidFill>
                  <a:srgbClr val="FFFFFF"/>
                </a:solidFill>
                <a:latin typeface="Muli Bold"/>
                <a:ea typeface="Muli Bold"/>
                <a:cs typeface="Muli Bold"/>
                <a:sym typeface="Muli Bold"/>
              </a:rPr>
              <a:t>hướng</a:t>
            </a:r>
            <a:r>
              <a:rPr lang="en-US" sz="4499" b="1" dirty="0">
                <a:solidFill>
                  <a:srgbClr val="FFFFFF"/>
                </a:solidFill>
                <a:latin typeface="Muli Bold"/>
                <a:ea typeface="Muli Bold"/>
                <a:cs typeface="Muli Bold"/>
                <a:sym typeface="Muli Bold"/>
              </a:rPr>
              <a:t> </a:t>
            </a:r>
            <a:r>
              <a:rPr lang="en-US" sz="4499" b="1" dirty="0" err="1">
                <a:solidFill>
                  <a:srgbClr val="FFFFFF"/>
                </a:solidFill>
                <a:latin typeface="Muli Bold"/>
                <a:ea typeface="Muli Bold"/>
                <a:cs typeface="Muli Bold"/>
                <a:sym typeface="Muli Bold"/>
              </a:rPr>
              <a:t>dẫn</a:t>
            </a:r>
            <a:r>
              <a:rPr lang="en-US" sz="4499" b="1" dirty="0">
                <a:solidFill>
                  <a:srgbClr val="FFFFFF"/>
                </a:solidFill>
                <a:latin typeface="Muli Bold"/>
                <a:ea typeface="Muli Bold"/>
                <a:cs typeface="Muli Bold"/>
                <a:sym typeface="Muli Bold"/>
              </a:rPr>
              <a:t>: HUỲNH LÊ MINH THIỆN</a:t>
            </a:r>
          </a:p>
        </p:txBody>
      </p:sp>
      <p:sp>
        <p:nvSpPr>
          <p:cNvPr id="6" name="Freeform 6"/>
          <p:cNvSpPr/>
          <p:nvPr/>
        </p:nvSpPr>
        <p:spPr>
          <a:xfrm rot="3079607">
            <a:off x="15093700" y="-154527"/>
            <a:ext cx="6558303" cy="6522531"/>
          </a:xfrm>
          <a:custGeom>
            <a:avLst/>
            <a:gdLst/>
            <a:ahLst/>
            <a:cxnLst/>
            <a:rect l="l" t="t" r="r" b="b"/>
            <a:pathLst>
              <a:path w="6558303" h="6522531">
                <a:moveTo>
                  <a:pt x="0" y="0"/>
                </a:moveTo>
                <a:lnTo>
                  <a:pt x="6558304" y="0"/>
                </a:lnTo>
                <a:lnTo>
                  <a:pt x="6558304" y="6522531"/>
                </a:lnTo>
                <a:lnTo>
                  <a:pt x="0" y="6522531"/>
                </a:lnTo>
                <a:lnTo>
                  <a:pt x="0" y="0"/>
                </a:lnTo>
                <a:close/>
              </a:path>
            </a:pathLst>
          </a:custGeom>
          <a:blipFill>
            <a:blip r:embed="rId2">
              <a:alphaModFix amt="62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18081" y="3423078"/>
            <a:ext cx="11408093" cy="2516507"/>
          </a:xfrm>
          <a:prstGeom prst="rect">
            <a:avLst/>
          </a:prstGeom>
        </p:spPr>
        <p:txBody>
          <a:bodyPr lIns="0" tIns="0" rIns="0" bIns="0" rtlCol="0" anchor="t">
            <a:spAutoFit/>
          </a:bodyPr>
          <a:lstStyle/>
          <a:p>
            <a:pPr algn="l">
              <a:lnSpc>
                <a:spcPts val="6719"/>
              </a:lnSpc>
              <a:spcBef>
                <a:spcPct val="0"/>
              </a:spcBef>
            </a:pPr>
            <a:r>
              <a:rPr lang="en-US" sz="4799" b="1">
                <a:solidFill>
                  <a:srgbClr val="FF7C64"/>
                </a:solidFill>
                <a:latin typeface="Muli Bold"/>
                <a:ea typeface="Muli Bold"/>
                <a:cs typeface="Muli Bold"/>
                <a:sym typeface="Muli Bold"/>
              </a:rPr>
              <a:t>PHAN LÊ NGỌC HỒNG      3122410134</a:t>
            </a:r>
          </a:p>
          <a:p>
            <a:pPr algn="l">
              <a:lnSpc>
                <a:spcPts val="6719"/>
              </a:lnSpc>
              <a:spcBef>
                <a:spcPct val="0"/>
              </a:spcBef>
            </a:pPr>
            <a:endParaRPr lang="en-US" sz="4799" b="1">
              <a:solidFill>
                <a:srgbClr val="FF7C64"/>
              </a:solidFill>
              <a:latin typeface="Muli Bold"/>
              <a:ea typeface="Muli Bold"/>
              <a:cs typeface="Muli Bold"/>
              <a:sym typeface="Muli Bold"/>
            </a:endParaRPr>
          </a:p>
          <a:p>
            <a:pPr algn="l">
              <a:lnSpc>
                <a:spcPts val="6719"/>
              </a:lnSpc>
              <a:spcBef>
                <a:spcPct val="0"/>
              </a:spcBef>
            </a:pPr>
            <a:r>
              <a:rPr lang="en-US" sz="4799" b="1">
                <a:solidFill>
                  <a:srgbClr val="FF7C64"/>
                </a:solidFill>
                <a:latin typeface="Muli Bold"/>
                <a:ea typeface="Muli Bold"/>
                <a:cs typeface="Muli Bold"/>
                <a:sym typeface="Muli Bold"/>
              </a:rPr>
              <a:t>NGUYỄN NHỰT HÀO          3122410097</a:t>
            </a:r>
          </a:p>
        </p:txBody>
      </p:sp>
      <p:sp>
        <p:nvSpPr>
          <p:cNvPr id="3" name="Freeform 3"/>
          <p:cNvSpPr/>
          <p:nvPr/>
        </p:nvSpPr>
        <p:spPr>
          <a:xfrm>
            <a:off x="10954174" y="3319650"/>
            <a:ext cx="9144000" cy="8682182"/>
          </a:xfrm>
          <a:custGeom>
            <a:avLst/>
            <a:gdLst/>
            <a:ahLst/>
            <a:cxnLst/>
            <a:rect l="l" t="t" r="r" b="b"/>
            <a:pathLst>
              <a:path w="9144000" h="8682182">
                <a:moveTo>
                  <a:pt x="0" y="0"/>
                </a:moveTo>
                <a:lnTo>
                  <a:pt x="9144000" y="0"/>
                </a:lnTo>
                <a:lnTo>
                  <a:pt x="9144000" y="8682182"/>
                </a:lnTo>
                <a:lnTo>
                  <a:pt x="0" y="8682182"/>
                </a:lnTo>
                <a:lnTo>
                  <a:pt x="0" y="0"/>
                </a:lnTo>
                <a:close/>
              </a:path>
            </a:pathLst>
          </a:custGeom>
          <a:blipFill>
            <a:blip r:embed="rId2">
              <a:alphaModFix amt="3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4089030" y="-1061965"/>
            <a:ext cx="7635831" cy="8091921"/>
          </a:xfrm>
          <a:custGeom>
            <a:avLst/>
            <a:gdLst/>
            <a:ahLst/>
            <a:cxnLst/>
            <a:rect l="l" t="t" r="r" b="b"/>
            <a:pathLst>
              <a:path w="7635831" h="8091921">
                <a:moveTo>
                  <a:pt x="0" y="0"/>
                </a:moveTo>
                <a:lnTo>
                  <a:pt x="7635831" y="0"/>
                </a:lnTo>
                <a:lnTo>
                  <a:pt x="7635831" y="8091922"/>
                </a:lnTo>
                <a:lnTo>
                  <a:pt x="0" y="809192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5" name="TextBox 5"/>
          <p:cNvSpPr txBox="1"/>
          <p:nvPr/>
        </p:nvSpPr>
        <p:spPr>
          <a:xfrm>
            <a:off x="5174339" y="775633"/>
            <a:ext cx="8434522" cy="1527271"/>
          </a:xfrm>
          <a:prstGeom prst="rect">
            <a:avLst/>
          </a:prstGeom>
        </p:spPr>
        <p:txBody>
          <a:bodyPr lIns="0" tIns="0" rIns="0" bIns="0" rtlCol="0" anchor="t">
            <a:spAutoFit/>
          </a:bodyPr>
          <a:lstStyle/>
          <a:p>
            <a:pPr algn="l">
              <a:lnSpc>
                <a:spcPts val="12108"/>
              </a:lnSpc>
            </a:pPr>
            <a:r>
              <a:rPr lang="en-US" sz="10090">
                <a:solidFill>
                  <a:srgbClr val="102B30"/>
                </a:solidFill>
                <a:latin typeface="Oswald"/>
                <a:ea typeface="Oswald"/>
                <a:cs typeface="Oswald"/>
                <a:sym typeface="Oswald"/>
              </a:rPr>
              <a:t>Thành viên nhóm</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C5C56"/>
        </a:solidFill>
        <a:effectLst/>
      </p:bgPr>
    </p:bg>
    <p:spTree>
      <p:nvGrpSpPr>
        <p:cNvPr id="1" name=""/>
        <p:cNvGrpSpPr/>
        <p:nvPr/>
      </p:nvGrpSpPr>
      <p:grpSpPr>
        <a:xfrm>
          <a:off x="0" y="0"/>
          <a:ext cx="0" cy="0"/>
          <a:chOff x="0" y="0"/>
          <a:chExt cx="0" cy="0"/>
        </a:xfrm>
      </p:grpSpPr>
      <p:sp>
        <p:nvSpPr>
          <p:cNvPr id="2" name="TextBox 2"/>
          <p:cNvSpPr txBox="1"/>
          <p:nvPr/>
        </p:nvSpPr>
        <p:spPr>
          <a:xfrm>
            <a:off x="3048157" y="1914040"/>
            <a:ext cx="11284960" cy="2060576"/>
          </a:xfrm>
          <a:prstGeom prst="rect">
            <a:avLst/>
          </a:prstGeom>
        </p:spPr>
        <p:txBody>
          <a:bodyPr lIns="0" tIns="0" rIns="0" bIns="0" rtlCol="0" anchor="t">
            <a:spAutoFit/>
          </a:bodyPr>
          <a:lstStyle/>
          <a:p>
            <a:pPr algn="l">
              <a:lnSpc>
                <a:spcPts val="5599"/>
              </a:lnSpc>
            </a:pPr>
            <a:r>
              <a:rPr lang="en-US" sz="3499">
                <a:solidFill>
                  <a:srgbClr val="FFFFFF"/>
                </a:solidFill>
                <a:latin typeface="Muli Extra-Light"/>
                <a:ea typeface="Muli Extra-Light"/>
                <a:cs typeface="Muli Extra-Light"/>
                <a:sym typeface="Muli Extra-Light"/>
              </a:rPr>
              <a:t>Trình bày tổng quan hệ thống GSM, phân tích chi tiết cấu trúc và vai trò nhóm kênh điều khiển (BCH, CCCH, DCCH)</a:t>
            </a:r>
          </a:p>
        </p:txBody>
      </p:sp>
      <p:sp>
        <p:nvSpPr>
          <p:cNvPr id="3" name="Freeform 3"/>
          <p:cNvSpPr/>
          <p:nvPr/>
        </p:nvSpPr>
        <p:spPr>
          <a:xfrm rot="-1346665">
            <a:off x="13239604" y="-2874806"/>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2947424" y="2066818"/>
            <a:ext cx="6342242" cy="8967180"/>
          </a:xfrm>
          <a:custGeom>
            <a:avLst/>
            <a:gdLst/>
            <a:ahLst/>
            <a:cxnLst/>
            <a:rect l="l" t="t" r="r" b="b"/>
            <a:pathLst>
              <a:path w="6342242" h="8967180">
                <a:moveTo>
                  <a:pt x="0" y="0"/>
                </a:moveTo>
                <a:lnTo>
                  <a:pt x="6342242" y="0"/>
                </a:lnTo>
                <a:lnTo>
                  <a:pt x="6342242" y="8967180"/>
                </a:lnTo>
                <a:lnTo>
                  <a:pt x="0" y="896718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5" name="TextBox 5"/>
          <p:cNvSpPr txBox="1"/>
          <p:nvPr/>
        </p:nvSpPr>
        <p:spPr>
          <a:xfrm>
            <a:off x="3048157" y="923925"/>
            <a:ext cx="6642788" cy="936625"/>
          </a:xfrm>
          <a:prstGeom prst="rect">
            <a:avLst/>
          </a:prstGeom>
        </p:spPr>
        <p:txBody>
          <a:bodyPr lIns="0" tIns="0" rIns="0" bIns="0" rtlCol="0" anchor="t">
            <a:spAutoFit/>
          </a:bodyPr>
          <a:lstStyle/>
          <a:p>
            <a:pPr algn="l">
              <a:lnSpc>
                <a:spcPts val="7699"/>
              </a:lnSpc>
            </a:pPr>
            <a:r>
              <a:rPr lang="en-US" sz="5499" b="1">
                <a:solidFill>
                  <a:srgbClr val="FF7C64"/>
                </a:solidFill>
                <a:latin typeface="Muli Semi-Bold"/>
                <a:ea typeface="Muli Semi-Bold"/>
                <a:cs typeface="Muli Semi-Bold"/>
                <a:sym typeface="Muli Semi-Bold"/>
              </a:rPr>
              <a:t>Mục tiêu nghiên cứu</a:t>
            </a:r>
          </a:p>
        </p:txBody>
      </p:sp>
      <p:sp>
        <p:nvSpPr>
          <p:cNvPr id="6" name="TextBox 6"/>
          <p:cNvSpPr txBox="1"/>
          <p:nvPr/>
        </p:nvSpPr>
        <p:spPr>
          <a:xfrm>
            <a:off x="3048157" y="4298465"/>
            <a:ext cx="7662848" cy="936625"/>
          </a:xfrm>
          <a:prstGeom prst="rect">
            <a:avLst/>
          </a:prstGeom>
        </p:spPr>
        <p:txBody>
          <a:bodyPr lIns="0" tIns="0" rIns="0" bIns="0" rtlCol="0" anchor="t">
            <a:spAutoFit/>
          </a:bodyPr>
          <a:lstStyle/>
          <a:p>
            <a:pPr algn="l">
              <a:lnSpc>
                <a:spcPts val="7699"/>
              </a:lnSpc>
            </a:pPr>
            <a:r>
              <a:rPr lang="en-US" sz="5499" b="1">
                <a:solidFill>
                  <a:srgbClr val="FF7C64"/>
                </a:solidFill>
                <a:latin typeface="Muli Semi-Bold"/>
                <a:ea typeface="Muli Semi-Bold"/>
                <a:cs typeface="Muli Semi-Bold"/>
                <a:sym typeface="Muli Semi-Bold"/>
              </a:rPr>
              <a:t>Nội dung nghiên cứu</a:t>
            </a:r>
          </a:p>
        </p:txBody>
      </p:sp>
      <p:sp>
        <p:nvSpPr>
          <p:cNvPr id="7" name="TextBox 7"/>
          <p:cNvSpPr txBox="1"/>
          <p:nvPr/>
        </p:nvSpPr>
        <p:spPr>
          <a:xfrm>
            <a:off x="3394818" y="5539890"/>
            <a:ext cx="12910349" cy="2082173"/>
          </a:xfrm>
          <a:prstGeom prst="rect">
            <a:avLst/>
          </a:prstGeom>
        </p:spPr>
        <p:txBody>
          <a:bodyPr lIns="0" tIns="0" rIns="0" bIns="0" rtlCol="0" anchor="t">
            <a:spAutoFit/>
          </a:bodyPr>
          <a:lstStyle/>
          <a:p>
            <a:pPr marL="755647" lvl="1" indent="-377824" algn="l">
              <a:lnSpc>
                <a:spcPts val="5599"/>
              </a:lnSpc>
              <a:buFont typeface="Arial"/>
              <a:buChar char="•"/>
            </a:pPr>
            <a:r>
              <a:rPr lang="en-US" sz="3499" dirty="0" err="1">
                <a:solidFill>
                  <a:srgbClr val="FFFFFF"/>
                </a:solidFill>
                <a:latin typeface="Muli Extra-Light"/>
                <a:ea typeface="Muli Extra-Light"/>
                <a:cs typeface="Muli Extra-Light"/>
                <a:sym typeface="Muli Extra-Light"/>
              </a:rPr>
              <a:t>Chương</a:t>
            </a:r>
            <a:r>
              <a:rPr lang="en-US" sz="3499" dirty="0">
                <a:solidFill>
                  <a:srgbClr val="FFFFFF"/>
                </a:solidFill>
                <a:latin typeface="Muli Extra-Light"/>
                <a:ea typeface="Muli Extra-Light"/>
                <a:cs typeface="Muli Extra-Light"/>
                <a:sym typeface="Muli Extra-Light"/>
              </a:rPr>
              <a:t> 1: </a:t>
            </a:r>
            <a:r>
              <a:rPr lang="en-US" sz="3499" dirty="0" err="1">
                <a:solidFill>
                  <a:srgbClr val="FFFFFF"/>
                </a:solidFill>
                <a:latin typeface="Muli Extra-Light"/>
                <a:ea typeface="Muli Extra-Light"/>
                <a:cs typeface="Muli Extra-Light"/>
                <a:sym typeface="Muli Extra-Light"/>
              </a:rPr>
              <a:t>Tổng</a:t>
            </a:r>
            <a:r>
              <a:rPr lang="en-US" sz="3499" dirty="0">
                <a:solidFill>
                  <a:srgbClr val="FFFFFF"/>
                </a:solidFill>
                <a:latin typeface="Muli Extra-Light"/>
                <a:ea typeface="Muli Extra-Light"/>
                <a:cs typeface="Muli Extra-Light"/>
                <a:sym typeface="Muli Extra-Light"/>
              </a:rPr>
              <a:t> </a:t>
            </a:r>
            <a:r>
              <a:rPr lang="en-US" sz="3499" dirty="0" err="1">
                <a:solidFill>
                  <a:srgbClr val="FFFFFF"/>
                </a:solidFill>
                <a:latin typeface="Muli Extra-Light"/>
                <a:ea typeface="Muli Extra-Light"/>
                <a:cs typeface="Muli Extra-Light"/>
                <a:sym typeface="Muli Extra-Light"/>
              </a:rPr>
              <a:t>quan</a:t>
            </a:r>
            <a:r>
              <a:rPr lang="en-US" sz="3499" dirty="0">
                <a:solidFill>
                  <a:srgbClr val="FFFFFF"/>
                </a:solidFill>
                <a:latin typeface="Muli Extra-Light"/>
                <a:ea typeface="Muli Extra-Light"/>
                <a:cs typeface="Muli Extra-Light"/>
                <a:sym typeface="Muli Extra-Light"/>
              </a:rPr>
              <a:t> </a:t>
            </a:r>
            <a:r>
              <a:rPr lang="en-US" sz="3499" dirty="0" err="1">
                <a:solidFill>
                  <a:srgbClr val="FFFFFF"/>
                </a:solidFill>
                <a:latin typeface="Muli Extra-Light"/>
                <a:ea typeface="Muli Extra-Light"/>
                <a:cs typeface="Muli Extra-Light"/>
                <a:sym typeface="Muli Extra-Light"/>
              </a:rPr>
              <a:t>hệ</a:t>
            </a:r>
            <a:r>
              <a:rPr lang="en-US" sz="3499" dirty="0">
                <a:solidFill>
                  <a:srgbClr val="FFFFFF"/>
                </a:solidFill>
                <a:latin typeface="Muli Extra-Light"/>
                <a:ea typeface="Muli Extra-Light"/>
                <a:cs typeface="Muli Extra-Light"/>
                <a:sym typeface="Muli Extra-Light"/>
              </a:rPr>
              <a:t> </a:t>
            </a:r>
            <a:r>
              <a:rPr lang="en-US" sz="3499" dirty="0" err="1">
                <a:solidFill>
                  <a:srgbClr val="FFFFFF"/>
                </a:solidFill>
                <a:latin typeface="Muli Extra-Light"/>
                <a:ea typeface="Muli Extra-Light"/>
                <a:cs typeface="Muli Extra-Light"/>
                <a:sym typeface="Muli Extra-Light"/>
              </a:rPr>
              <a:t>thống</a:t>
            </a:r>
            <a:r>
              <a:rPr lang="en-US" sz="3499" dirty="0">
                <a:solidFill>
                  <a:srgbClr val="FFFFFF"/>
                </a:solidFill>
                <a:latin typeface="Muli Extra-Light"/>
                <a:ea typeface="Muli Extra-Light"/>
                <a:cs typeface="Muli Extra-Light"/>
                <a:sym typeface="Muli Extra-Light"/>
              </a:rPr>
              <a:t> GSM</a:t>
            </a:r>
          </a:p>
          <a:p>
            <a:pPr marL="755647" lvl="1" indent="-377824" algn="l">
              <a:lnSpc>
                <a:spcPts val="5599"/>
              </a:lnSpc>
              <a:buFont typeface="Arial"/>
              <a:buChar char="•"/>
            </a:pPr>
            <a:r>
              <a:rPr lang="en-US" sz="3499" dirty="0" err="1">
                <a:solidFill>
                  <a:srgbClr val="FFFFFF"/>
                </a:solidFill>
                <a:latin typeface="Muli Extra-Light"/>
                <a:ea typeface="Muli Extra-Light"/>
                <a:cs typeface="Muli Extra-Light"/>
                <a:sym typeface="Muli Extra-Light"/>
              </a:rPr>
              <a:t>Chương</a:t>
            </a:r>
            <a:r>
              <a:rPr lang="en-US" sz="3499" dirty="0">
                <a:solidFill>
                  <a:srgbClr val="FFFFFF"/>
                </a:solidFill>
                <a:latin typeface="Muli Extra-Light"/>
                <a:ea typeface="Muli Extra-Light"/>
                <a:cs typeface="Muli Extra-Light"/>
                <a:sym typeface="Muli Extra-Light"/>
              </a:rPr>
              <a:t> 2: Các </a:t>
            </a:r>
            <a:r>
              <a:rPr lang="en-US" sz="3499" dirty="0" err="1">
                <a:solidFill>
                  <a:srgbClr val="FFFFFF"/>
                </a:solidFill>
                <a:latin typeface="Muli Extra-Light"/>
                <a:ea typeface="Muli Extra-Light"/>
                <a:cs typeface="Muli Extra-Light"/>
                <a:sym typeface="Muli Extra-Light"/>
              </a:rPr>
              <a:t>loại</a:t>
            </a:r>
            <a:r>
              <a:rPr lang="en-US" sz="3499" dirty="0">
                <a:solidFill>
                  <a:srgbClr val="FFFFFF"/>
                </a:solidFill>
                <a:latin typeface="Muli Extra-Light"/>
                <a:ea typeface="Muli Extra-Light"/>
                <a:cs typeface="Muli Extra-Light"/>
                <a:sym typeface="Muli Extra-Light"/>
              </a:rPr>
              <a:t> </a:t>
            </a:r>
            <a:r>
              <a:rPr lang="en-US" sz="3499" dirty="0" err="1">
                <a:solidFill>
                  <a:srgbClr val="FFFFFF"/>
                </a:solidFill>
                <a:latin typeface="Muli Extra-Light"/>
                <a:ea typeface="Muli Extra-Light"/>
                <a:cs typeface="Muli Extra-Light"/>
                <a:sym typeface="Muli Extra-Light"/>
              </a:rPr>
              <a:t>kênh</a:t>
            </a:r>
            <a:r>
              <a:rPr lang="en-US" sz="3499" dirty="0">
                <a:solidFill>
                  <a:srgbClr val="FFFFFF"/>
                </a:solidFill>
                <a:latin typeface="Muli Extra-Light"/>
                <a:ea typeface="Muli Extra-Light"/>
                <a:cs typeface="Muli Extra-Light"/>
                <a:sym typeface="Muli Extra-Light"/>
              </a:rPr>
              <a:t> </a:t>
            </a:r>
            <a:r>
              <a:rPr lang="en-US" sz="3499" dirty="0" err="1">
                <a:solidFill>
                  <a:srgbClr val="FFFFFF"/>
                </a:solidFill>
                <a:latin typeface="Muli Extra-Light"/>
                <a:ea typeface="Muli Extra-Light"/>
                <a:cs typeface="Muli Extra-Light"/>
                <a:sym typeface="Muli Extra-Light"/>
              </a:rPr>
              <a:t>trong</a:t>
            </a:r>
            <a:r>
              <a:rPr lang="en-US" sz="3499" dirty="0">
                <a:solidFill>
                  <a:srgbClr val="FFFFFF"/>
                </a:solidFill>
                <a:latin typeface="Muli Extra-Light"/>
                <a:ea typeface="Muli Extra-Light"/>
                <a:cs typeface="Muli Extra-Light"/>
                <a:sym typeface="Muli Extra-Light"/>
              </a:rPr>
              <a:t> GSM</a:t>
            </a:r>
          </a:p>
          <a:p>
            <a:pPr marL="755647" lvl="1" indent="-377824" algn="l">
              <a:lnSpc>
                <a:spcPts val="5599"/>
              </a:lnSpc>
              <a:buFont typeface="Arial"/>
              <a:buChar char="•"/>
            </a:pPr>
            <a:r>
              <a:rPr lang="en-US" sz="3499" dirty="0" err="1">
                <a:solidFill>
                  <a:srgbClr val="FFFFFF"/>
                </a:solidFill>
                <a:latin typeface="Muli Extra-Light"/>
                <a:ea typeface="Muli Extra-Light"/>
                <a:cs typeface="Muli Extra-Light"/>
                <a:sym typeface="Muli Extra-Light"/>
              </a:rPr>
              <a:t>Chương</a:t>
            </a:r>
            <a:r>
              <a:rPr lang="en-US" sz="3499" dirty="0">
                <a:solidFill>
                  <a:srgbClr val="FFFFFF"/>
                </a:solidFill>
                <a:latin typeface="Muli Extra-Light"/>
                <a:ea typeface="Muli Extra-Light"/>
                <a:cs typeface="Muli Extra-Light"/>
                <a:sym typeface="Muli Extra-Light"/>
              </a:rPr>
              <a:t> 3: </a:t>
            </a:r>
            <a:r>
              <a:rPr lang="en-US" sz="3499" dirty="0" err="1">
                <a:solidFill>
                  <a:srgbClr val="FFFFFF"/>
                </a:solidFill>
                <a:latin typeface="Muli Extra-Light"/>
                <a:ea typeface="Muli Extra-Light"/>
                <a:cs typeface="Muli Extra-Light"/>
                <a:sym typeface="Muli Extra-Light"/>
              </a:rPr>
              <a:t>Phân</a:t>
            </a:r>
            <a:r>
              <a:rPr lang="en-US" sz="3499" dirty="0">
                <a:solidFill>
                  <a:srgbClr val="FFFFFF"/>
                </a:solidFill>
                <a:latin typeface="Muli Extra-Light"/>
                <a:ea typeface="Muli Extra-Light"/>
                <a:cs typeface="Muli Extra-Light"/>
                <a:sym typeface="Muli Extra-Light"/>
              </a:rPr>
              <a:t> </a:t>
            </a:r>
            <a:r>
              <a:rPr lang="en-US" sz="3499" dirty="0" err="1">
                <a:solidFill>
                  <a:srgbClr val="FFFFFF"/>
                </a:solidFill>
                <a:latin typeface="Muli Extra-Light"/>
                <a:ea typeface="Muli Extra-Light"/>
                <a:cs typeface="Muli Extra-Light"/>
                <a:sym typeface="Muli Extra-Light"/>
              </a:rPr>
              <a:t>tích</a:t>
            </a:r>
            <a:r>
              <a:rPr lang="en-US" sz="3499" dirty="0">
                <a:solidFill>
                  <a:srgbClr val="FFFFFF"/>
                </a:solidFill>
                <a:latin typeface="Muli Extra-Light"/>
                <a:ea typeface="Muli Extra-Light"/>
                <a:cs typeface="Muli Extra-Light"/>
                <a:sym typeface="Muli Extra-Light"/>
              </a:rPr>
              <a:t> chi </a:t>
            </a:r>
            <a:r>
              <a:rPr lang="en-US" sz="3499" dirty="0" err="1">
                <a:solidFill>
                  <a:srgbClr val="FFFFFF"/>
                </a:solidFill>
                <a:latin typeface="Muli Extra-Light"/>
                <a:ea typeface="Muli Extra-Light"/>
                <a:cs typeface="Muli Extra-Light"/>
                <a:sym typeface="Muli Extra-Light"/>
              </a:rPr>
              <a:t>tiết</a:t>
            </a:r>
            <a:r>
              <a:rPr lang="en-US" sz="3499" dirty="0">
                <a:solidFill>
                  <a:srgbClr val="FFFFFF"/>
                </a:solidFill>
                <a:latin typeface="Muli Extra-Light"/>
                <a:ea typeface="Muli Extra-Light"/>
                <a:cs typeface="Muli Extra-Light"/>
                <a:sym typeface="Muli Extra-Light"/>
              </a:rPr>
              <a:t> </a:t>
            </a:r>
            <a:r>
              <a:rPr lang="en-US" sz="3499" dirty="0" err="1">
                <a:solidFill>
                  <a:srgbClr val="FFFFFF"/>
                </a:solidFill>
                <a:latin typeface="Muli Extra-Light"/>
                <a:ea typeface="Muli Extra-Light"/>
                <a:cs typeface="Muli Extra-Light"/>
                <a:sym typeface="Muli Extra-Light"/>
              </a:rPr>
              <a:t>kênh</a:t>
            </a:r>
            <a:r>
              <a:rPr lang="en-US" sz="3499" dirty="0">
                <a:solidFill>
                  <a:srgbClr val="FFFFFF"/>
                </a:solidFill>
                <a:latin typeface="Muli Extra-Light"/>
                <a:ea typeface="Muli Extra-Light"/>
                <a:cs typeface="Muli Extra-Light"/>
                <a:sym typeface="Muli Extra-Light"/>
              </a:rPr>
              <a:t> </a:t>
            </a:r>
            <a:r>
              <a:rPr lang="en-US" sz="3499" dirty="0" err="1">
                <a:solidFill>
                  <a:srgbClr val="FFFFFF"/>
                </a:solidFill>
                <a:latin typeface="Muli Extra-Light"/>
                <a:ea typeface="Muli Extra-Light"/>
                <a:cs typeface="Muli Extra-Light"/>
                <a:sym typeface="Muli Extra-Light"/>
              </a:rPr>
              <a:t>điều</a:t>
            </a:r>
            <a:r>
              <a:rPr lang="en-US" sz="3499" dirty="0">
                <a:solidFill>
                  <a:srgbClr val="FFFFFF"/>
                </a:solidFill>
                <a:latin typeface="Muli Extra-Light"/>
                <a:ea typeface="Muli Extra-Light"/>
                <a:cs typeface="Muli Extra-Light"/>
                <a:sym typeface="Muli Extra-Light"/>
              </a:rPr>
              <a:t> </a:t>
            </a:r>
            <a:r>
              <a:rPr lang="en-US" sz="3499" dirty="0" err="1">
                <a:solidFill>
                  <a:srgbClr val="FFFFFF"/>
                </a:solidFill>
                <a:latin typeface="Muli Extra-Light"/>
                <a:ea typeface="Muli Extra-Light"/>
                <a:cs typeface="Muli Extra-Light"/>
                <a:sym typeface="Muli Extra-Light"/>
              </a:rPr>
              <a:t>khiển</a:t>
            </a:r>
            <a:r>
              <a:rPr lang="en-US" sz="3499" dirty="0">
                <a:solidFill>
                  <a:srgbClr val="FFFFFF"/>
                </a:solidFill>
                <a:latin typeface="Muli Extra-Light"/>
                <a:ea typeface="Muli Extra-Light"/>
                <a:cs typeface="Muli Extra-Light"/>
                <a:sym typeface="Muli Extra-Light"/>
              </a:rPr>
              <a:t> </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46665">
            <a:off x="14183995" y="-2668771"/>
            <a:ext cx="7202852" cy="7163563"/>
          </a:xfrm>
          <a:custGeom>
            <a:avLst/>
            <a:gdLst/>
            <a:ahLst/>
            <a:cxnLst/>
            <a:rect l="l" t="t" r="r" b="b"/>
            <a:pathLst>
              <a:path w="7202852" h="7163563">
                <a:moveTo>
                  <a:pt x="0" y="0"/>
                </a:moveTo>
                <a:lnTo>
                  <a:pt x="7202852" y="0"/>
                </a:lnTo>
                <a:lnTo>
                  <a:pt x="7202852" y="7163564"/>
                </a:lnTo>
                <a:lnTo>
                  <a:pt x="0" y="7163564"/>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611560" y="379611"/>
            <a:ext cx="14082161"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1: Tổng quan hệ thống GSM</a:t>
            </a:r>
          </a:p>
        </p:txBody>
      </p:sp>
      <p:sp>
        <p:nvSpPr>
          <p:cNvPr id="4" name="TextBox 4"/>
          <p:cNvSpPr txBox="1"/>
          <p:nvPr/>
        </p:nvSpPr>
        <p:spPr>
          <a:xfrm>
            <a:off x="1028700" y="1862478"/>
            <a:ext cx="10553700" cy="921855"/>
          </a:xfrm>
          <a:prstGeom prst="rect">
            <a:avLst/>
          </a:prstGeom>
        </p:spPr>
        <p:txBody>
          <a:bodyPr wrap="square" lIns="0" tIns="0" rIns="0" bIns="0" rtlCol="0" anchor="t">
            <a:spAutoFit/>
          </a:bodyPr>
          <a:lstStyle/>
          <a:p>
            <a:pPr algn="ctr">
              <a:lnSpc>
                <a:spcPts val="7839"/>
              </a:lnSpc>
              <a:spcBef>
                <a:spcPct val="0"/>
              </a:spcBef>
            </a:pPr>
            <a:r>
              <a:rPr lang="en-US" sz="5599" b="1" dirty="0" err="1">
                <a:solidFill>
                  <a:srgbClr val="2C5C56"/>
                </a:solidFill>
                <a:latin typeface="Muli Bold"/>
                <a:ea typeface="Muli Bold"/>
                <a:cs typeface="Muli Bold"/>
                <a:sym typeface="Muli Bold"/>
              </a:rPr>
              <a:t>Lịch</a:t>
            </a:r>
            <a:r>
              <a:rPr lang="en-US" sz="5599" b="1" dirty="0">
                <a:solidFill>
                  <a:srgbClr val="2C5C56"/>
                </a:solidFill>
                <a:latin typeface="Muli Bold"/>
                <a:ea typeface="Muli Bold"/>
                <a:cs typeface="Muli Bold"/>
                <a:sym typeface="Muli Bold"/>
              </a:rPr>
              <a:t> </a:t>
            </a:r>
            <a:r>
              <a:rPr lang="en-US" sz="5599" b="1" dirty="0" err="1">
                <a:solidFill>
                  <a:srgbClr val="2C5C56"/>
                </a:solidFill>
                <a:latin typeface="Muli Bold"/>
                <a:ea typeface="Muli Bold"/>
                <a:cs typeface="Muli Bold"/>
                <a:sym typeface="Muli Bold"/>
              </a:rPr>
              <a:t>sử</a:t>
            </a:r>
            <a:r>
              <a:rPr lang="en-US" sz="5599" b="1" dirty="0">
                <a:solidFill>
                  <a:srgbClr val="2C5C56"/>
                </a:solidFill>
                <a:latin typeface="Muli Bold"/>
                <a:ea typeface="Muli Bold"/>
                <a:cs typeface="Muli Bold"/>
                <a:sym typeface="Muli Bold"/>
              </a:rPr>
              <a:t> </a:t>
            </a:r>
            <a:r>
              <a:rPr lang="en-US" sz="5599" b="1" dirty="0" err="1">
                <a:solidFill>
                  <a:srgbClr val="2C5C56"/>
                </a:solidFill>
                <a:latin typeface="Muli Bold"/>
                <a:ea typeface="Muli Bold"/>
                <a:cs typeface="Muli Bold"/>
                <a:sym typeface="Muli Bold"/>
              </a:rPr>
              <a:t>phát</a:t>
            </a:r>
            <a:r>
              <a:rPr lang="en-US" sz="5599" b="1" dirty="0">
                <a:solidFill>
                  <a:srgbClr val="2C5C56"/>
                </a:solidFill>
                <a:latin typeface="Muli Bold"/>
                <a:ea typeface="Muli Bold"/>
                <a:cs typeface="Muli Bold"/>
                <a:sym typeface="Muli Bold"/>
              </a:rPr>
              <a:t> </a:t>
            </a:r>
            <a:r>
              <a:rPr lang="en-US" sz="5599" b="1" dirty="0" err="1">
                <a:solidFill>
                  <a:srgbClr val="2C5C56"/>
                </a:solidFill>
                <a:latin typeface="Muli Bold"/>
                <a:ea typeface="Muli Bold"/>
                <a:cs typeface="Muli Bold"/>
                <a:sym typeface="Muli Bold"/>
              </a:rPr>
              <a:t>triển</a:t>
            </a:r>
            <a:r>
              <a:rPr lang="en-US" sz="5599" b="1" dirty="0">
                <a:solidFill>
                  <a:srgbClr val="2C5C56"/>
                </a:solidFill>
                <a:latin typeface="Muli Bold"/>
                <a:ea typeface="Muli Bold"/>
                <a:cs typeface="Muli Bold"/>
                <a:sym typeface="Muli Bold"/>
              </a:rPr>
              <a:t> </a:t>
            </a:r>
            <a:r>
              <a:rPr lang="en-US" sz="5599" b="1" dirty="0" err="1">
                <a:solidFill>
                  <a:srgbClr val="2C5C56"/>
                </a:solidFill>
                <a:latin typeface="Muli Bold"/>
                <a:ea typeface="Muli Bold"/>
                <a:cs typeface="Muli Bold"/>
                <a:sym typeface="Muli Bold"/>
              </a:rPr>
              <a:t>và</a:t>
            </a:r>
            <a:r>
              <a:rPr lang="en-US" sz="5599" b="1" dirty="0">
                <a:solidFill>
                  <a:srgbClr val="2C5C56"/>
                </a:solidFill>
                <a:latin typeface="Muli Bold"/>
                <a:ea typeface="Muli Bold"/>
                <a:cs typeface="Muli Bold"/>
                <a:sym typeface="Muli Bold"/>
              </a:rPr>
              <a:t> </a:t>
            </a:r>
            <a:r>
              <a:rPr lang="en-US" sz="5599" b="1" dirty="0" err="1">
                <a:solidFill>
                  <a:srgbClr val="2C5C56"/>
                </a:solidFill>
                <a:latin typeface="Muli Bold"/>
                <a:ea typeface="Muli Bold"/>
                <a:cs typeface="Muli Bold"/>
                <a:sym typeface="Muli Bold"/>
              </a:rPr>
              <a:t>đặc</a:t>
            </a:r>
            <a:r>
              <a:rPr lang="en-US" sz="5599" b="1" dirty="0">
                <a:solidFill>
                  <a:srgbClr val="2C5C56"/>
                </a:solidFill>
                <a:latin typeface="Muli Bold"/>
                <a:ea typeface="Muli Bold"/>
                <a:cs typeface="Muli Bold"/>
                <a:sym typeface="Muli Bold"/>
              </a:rPr>
              <a:t> </a:t>
            </a:r>
            <a:r>
              <a:rPr lang="en-US" sz="5599" b="1" dirty="0" err="1">
                <a:solidFill>
                  <a:srgbClr val="2C5C56"/>
                </a:solidFill>
                <a:latin typeface="Muli Bold"/>
                <a:ea typeface="Muli Bold"/>
                <a:cs typeface="Muli Bold"/>
                <a:sym typeface="Muli Bold"/>
              </a:rPr>
              <a:t>điểm</a:t>
            </a:r>
            <a:endParaRPr lang="en-US" sz="5599" b="1" dirty="0">
              <a:solidFill>
                <a:srgbClr val="2C5C56"/>
              </a:solidFill>
              <a:latin typeface="Muli Bold"/>
              <a:ea typeface="Muli Bold"/>
              <a:cs typeface="Muli Bold"/>
              <a:sym typeface="Muli Bold"/>
            </a:endParaRPr>
          </a:p>
        </p:txBody>
      </p:sp>
      <p:sp>
        <p:nvSpPr>
          <p:cNvPr id="5" name="TextBox 5"/>
          <p:cNvSpPr txBox="1"/>
          <p:nvPr/>
        </p:nvSpPr>
        <p:spPr>
          <a:xfrm>
            <a:off x="1685224" y="3102263"/>
            <a:ext cx="14056616" cy="2307589"/>
          </a:xfrm>
          <a:prstGeom prst="rect">
            <a:avLst/>
          </a:prstGeom>
        </p:spPr>
        <p:txBody>
          <a:bodyPr lIns="0" tIns="0" rIns="0" bIns="0" rtlCol="0" anchor="t">
            <a:spAutoFit/>
          </a:bodyPr>
          <a:lstStyle/>
          <a:p>
            <a:pPr algn="just">
              <a:lnSpc>
                <a:spcPts val="5599"/>
              </a:lnSpc>
            </a:pPr>
            <a:r>
              <a:rPr lang="en-US" sz="3499">
                <a:solidFill>
                  <a:srgbClr val="2C5C56"/>
                </a:solidFill>
                <a:latin typeface="Muli Extra-Light"/>
                <a:ea typeface="Muli Extra-Light"/>
                <a:cs typeface="Muli Extra-Light"/>
                <a:sym typeface="Muli Extra-Light"/>
              </a:rPr>
              <a:t>GSM (Global System for Mobile Communications) ra đời năm 1982 (CEPT) và được chuẩn hóa (ETSI) vào 1989, trở thành chuẩn di động số thế hệ 2 (2G) toàn cầu.</a:t>
            </a:r>
          </a:p>
          <a:p>
            <a:pPr algn="just">
              <a:lnSpc>
                <a:spcPts val="1440"/>
              </a:lnSpc>
            </a:pPr>
            <a:endParaRPr lang="en-US" sz="3499">
              <a:solidFill>
                <a:srgbClr val="2C5C56"/>
              </a:solidFill>
              <a:latin typeface="Muli Extra-Light"/>
              <a:ea typeface="Muli Extra-Light"/>
              <a:cs typeface="Muli Extra-Light"/>
              <a:sym typeface="Muli Extra-Light"/>
            </a:endParaRPr>
          </a:p>
        </p:txBody>
      </p:sp>
      <p:sp>
        <p:nvSpPr>
          <p:cNvPr id="6" name="TextBox 6"/>
          <p:cNvSpPr txBox="1"/>
          <p:nvPr/>
        </p:nvSpPr>
        <p:spPr>
          <a:xfrm>
            <a:off x="2259181" y="5286027"/>
            <a:ext cx="13769638" cy="4422139"/>
          </a:xfrm>
          <a:prstGeom prst="rect">
            <a:avLst/>
          </a:prstGeom>
        </p:spPr>
        <p:txBody>
          <a:bodyPr lIns="0" tIns="0" rIns="0" bIns="0" rtlCol="0" anchor="t">
            <a:spAutoFit/>
          </a:bodyPr>
          <a:lstStyle/>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Hoạt động ở băng tần 900/1800 MHz.</a:t>
            </a:r>
          </a:p>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Sử dụng đa truy nhập TDMA (Time Division Multiple Access) kết hợp FDMA.</a:t>
            </a:r>
          </a:p>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Mã hóa GMSK, tốc độ 270 Kbit/s.</a:t>
            </a:r>
          </a:p>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Cho phép chuyển vùng (Roaming) quốc tế.</a:t>
            </a:r>
          </a:p>
          <a:p>
            <a:pPr algn="just">
              <a:lnSpc>
                <a:spcPts val="5599"/>
              </a:lnSpc>
            </a:pPr>
            <a:endParaRPr lang="en-US" sz="3499">
              <a:solidFill>
                <a:srgbClr val="2C5C56"/>
              </a:solidFill>
              <a:latin typeface="Muli Extra-Light"/>
              <a:ea typeface="Muli Extra-Light"/>
              <a:cs typeface="Muli Extra-Light"/>
              <a:sym typeface="Muli Extra-Light"/>
            </a:endParaRPr>
          </a:p>
          <a:p>
            <a:pPr marL="194321" lvl="1" indent="-97161" algn="just">
              <a:lnSpc>
                <a:spcPts val="1440"/>
              </a:lnSpc>
              <a:buFont typeface="Arial"/>
              <a:buChar char="•"/>
            </a:pPr>
            <a:endParaRPr lang="en-US" sz="3499">
              <a:solidFill>
                <a:srgbClr val="2C5C56"/>
              </a:solidFill>
              <a:latin typeface="Muli Extra-Light"/>
              <a:ea typeface="Muli Extra-Light"/>
              <a:cs typeface="Muli Extra-Light"/>
              <a:sym typeface="Muli Extra-Light"/>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46665">
            <a:off x="13389284" y="-3971213"/>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611560" y="379611"/>
            <a:ext cx="14082161"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1: Tổng quan hệ thống GSM</a:t>
            </a:r>
          </a:p>
        </p:txBody>
      </p:sp>
      <p:sp>
        <p:nvSpPr>
          <p:cNvPr id="4" name="TextBox 4"/>
          <p:cNvSpPr txBox="1"/>
          <p:nvPr/>
        </p:nvSpPr>
        <p:spPr>
          <a:xfrm>
            <a:off x="0" y="1663800"/>
            <a:ext cx="14002553" cy="962662"/>
          </a:xfrm>
          <a:prstGeom prst="rect">
            <a:avLst/>
          </a:prstGeom>
        </p:spPr>
        <p:txBody>
          <a:bodyPr lIns="0" tIns="0" rIns="0" bIns="0" rtlCol="0" anchor="t">
            <a:spAutoFit/>
          </a:bodyPr>
          <a:lstStyle/>
          <a:p>
            <a:pPr algn="r">
              <a:lnSpc>
                <a:spcPts val="7839"/>
              </a:lnSpc>
              <a:spcBef>
                <a:spcPct val="0"/>
              </a:spcBef>
            </a:pPr>
            <a:r>
              <a:rPr lang="en-US" sz="5599" b="1">
                <a:solidFill>
                  <a:srgbClr val="2C5C56"/>
                </a:solidFill>
                <a:latin typeface="Muli Bold"/>
                <a:ea typeface="Muli Bold"/>
                <a:cs typeface="Muli Bold"/>
                <a:sym typeface="Muli Bold"/>
              </a:rPr>
              <a:t>Cấu trúc mạng thông tin di động GSM</a:t>
            </a:r>
          </a:p>
        </p:txBody>
      </p:sp>
      <p:sp>
        <p:nvSpPr>
          <p:cNvPr id="5" name="TextBox 5"/>
          <p:cNvSpPr txBox="1"/>
          <p:nvPr/>
        </p:nvSpPr>
        <p:spPr>
          <a:xfrm>
            <a:off x="1641073" y="2836013"/>
            <a:ext cx="14056616" cy="2307589"/>
          </a:xfrm>
          <a:prstGeom prst="rect">
            <a:avLst/>
          </a:prstGeom>
        </p:spPr>
        <p:txBody>
          <a:bodyPr lIns="0" tIns="0" rIns="0" bIns="0" rtlCol="0" anchor="t">
            <a:spAutoFit/>
          </a:bodyPr>
          <a:lstStyle/>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NSS (Network Switching Subsystem): Hệ thống con chuyển mạch. Gồm MSC (Tổng đài), HLR (Bộ ghi định vị thường trú), VLR (tạm trú), AUC (Trung tâm nhận thực).</a:t>
            </a:r>
          </a:p>
          <a:p>
            <a:pPr algn="just">
              <a:lnSpc>
                <a:spcPts val="1440"/>
              </a:lnSpc>
            </a:pPr>
            <a:endParaRPr lang="en-US" sz="3499">
              <a:solidFill>
                <a:srgbClr val="2C5C56"/>
              </a:solidFill>
              <a:latin typeface="Muli Extra-Light"/>
              <a:ea typeface="Muli Extra-Light"/>
              <a:cs typeface="Muli Extra-Light"/>
              <a:sym typeface="Muli Extra-Light"/>
            </a:endParaRPr>
          </a:p>
        </p:txBody>
      </p:sp>
      <p:sp>
        <p:nvSpPr>
          <p:cNvPr id="6" name="TextBox 6"/>
          <p:cNvSpPr txBox="1"/>
          <p:nvPr/>
        </p:nvSpPr>
        <p:spPr>
          <a:xfrm>
            <a:off x="1641073" y="5019675"/>
            <a:ext cx="14056616" cy="1602739"/>
          </a:xfrm>
          <a:prstGeom prst="rect">
            <a:avLst/>
          </a:prstGeom>
        </p:spPr>
        <p:txBody>
          <a:bodyPr lIns="0" tIns="0" rIns="0" bIns="0" rtlCol="0" anchor="t">
            <a:spAutoFit/>
          </a:bodyPr>
          <a:lstStyle/>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BSS (Base Station Subsystem): Hệ thống con trạm gốc. Gồm BSC (Bộ điều khiển) và BTS (Trạm thu phát).</a:t>
            </a:r>
          </a:p>
          <a:p>
            <a:pPr algn="just">
              <a:lnSpc>
                <a:spcPts val="1440"/>
              </a:lnSpc>
            </a:pPr>
            <a:endParaRPr lang="en-US" sz="3499">
              <a:solidFill>
                <a:srgbClr val="2C5C56"/>
              </a:solidFill>
              <a:latin typeface="Muli Extra-Light"/>
              <a:ea typeface="Muli Extra-Light"/>
              <a:cs typeface="Muli Extra-Light"/>
              <a:sym typeface="Muli Extra-Light"/>
            </a:endParaRPr>
          </a:p>
        </p:txBody>
      </p:sp>
      <p:sp>
        <p:nvSpPr>
          <p:cNvPr id="7" name="TextBox 7"/>
          <p:cNvSpPr txBox="1"/>
          <p:nvPr/>
        </p:nvSpPr>
        <p:spPr>
          <a:xfrm>
            <a:off x="1641073" y="6575022"/>
            <a:ext cx="14056616" cy="1602739"/>
          </a:xfrm>
          <a:prstGeom prst="rect">
            <a:avLst/>
          </a:prstGeom>
        </p:spPr>
        <p:txBody>
          <a:bodyPr lIns="0" tIns="0" rIns="0" bIns="0" rtlCol="0" anchor="t">
            <a:spAutoFit/>
          </a:bodyPr>
          <a:lstStyle/>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OMC (Operation &amp; Maintenance): Hệ thống con khai thác và bảo dưỡng.</a:t>
            </a:r>
          </a:p>
          <a:p>
            <a:pPr marL="194321" lvl="1" indent="-97161" algn="just">
              <a:lnSpc>
                <a:spcPts val="1440"/>
              </a:lnSpc>
              <a:buFont typeface="Arial"/>
              <a:buChar char="•"/>
            </a:pPr>
            <a:endParaRPr lang="en-US" sz="3499">
              <a:solidFill>
                <a:srgbClr val="2C5C56"/>
              </a:solidFill>
              <a:latin typeface="Muli Extra-Light"/>
              <a:ea typeface="Muli Extra-Light"/>
              <a:cs typeface="Muli Extra-Light"/>
              <a:sym typeface="Muli Extra-Light"/>
            </a:endParaRPr>
          </a:p>
        </p:txBody>
      </p:sp>
      <p:sp>
        <p:nvSpPr>
          <p:cNvPr id="8" name="TextBox 8"/>
          <p:cNvSpPr txBox="1"/>
          <p:nvPr/>
        </p:nvSpPr>
        <p:spPr>
          <a:xfrm>
            <a:off x="1641073" y="8130369"/>
            <a:ext cx="14056616" cy="897889"/>
          </a:xfrm>
          <a:prstGeom prst="rect">
            <a:avLst/>
          </a:prstGeom>
        </p:spPr>
        <p:txBody>
          <a:bodyPr lIns="0" tIns="0" rIns="0" bIns="0" rtlCol="0" anchor="t">
            <a:spAutoFit/>
          </a:bodyPr>
          <a:lstStyle/>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MS (Mobile Station): Trạm di động (thiết bị người dùng).</a:t>
            </a:r>
          </a:p>
          <a:p>
            <a:pPr marL="194321" lvl="1" indent="-97161" algn="just">
              <a:lnSpc>
                <a:spcPts val="1440"/>
              </a:lnSpc>
              <a:buFont typeface="Arial"/>
              <a:buChar char="•"/>
            </a:pPr>
            <a:endParaRPr lang="en-US" sz="3499">
              <a:solidFill>
                <a:srgbClr val="2C5C56"/>
              </a:solidFill>
              <a:latin typeface="Muli Extra-Light"/>
              <a:ea typeface="Muli Extra-Light"/>
              <a:cs typeface="Muli Extra-Light"/>
              <a:sym typeface="Muli Extra-Light"/>
            </a:endParaRPr>
          </a:p>
        </p:txBody>
      </p:sp>
      <p:sp>
        <p:nvSpPr>
          <p:cNvPr id="9" name="Freeform 9"/>
          <p:cNvSpPr/>
          <p:nvPr/>
        </p:nvSpPr>
        <p:spPr>
          <a:xfrm rot="2700000">
            <a:off x="-1725270" y="6474128"/>
            <a:ext cx="4357968" cy="4334197"/>
          </a:xfrm>
          <a:custGeom>
            <a:avLst/>
            <a:gdLst/>
            <a:ahLst/>
            <a:cxnLst/>
            <a:rect l="l" t="t" r="r" b="b"/>
            <a:pathLst>
              <a:path w="4357968" h="4334197">
                <a:moveTo>
                  <a:pt x="0" y="0"/>
                </a:moveTo>
                <a:lnTo>
                  <a:pt x="4357967" y="0"/>
                </a:lnTo>
                <a:lnTo>
                  <a:pt x="4357967" y="4334197"/>
                </a:lnTo>
                <a:lnTo>
                  <a:pt x="0" y="4334197"/>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46665">
            <a:off x="13389284" y="-3971213"/>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611560" y="379611"/>
            <a:ext cx="14082161"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1: Tổng quan hệ thống GSM</a:t>
            </a:r>
          </a:p>
        </p:txBody>
      </p:sp>
      <p:sp>
        <p:nvSpPr>
          <p:cNvPr id="4" name="TextBox 4"/>
          <p:cNvSpPr txBox="1"/>
          <p:nvPr/>
        </p:nvSpPr>
        <p:spPr>
          <a:xfrm>
            <a:off x="0" y="1663800"/>
            <a:ext cx="14002553" cy="962662"/>
          </a:xfrm>
          <a:prstGeom prst="rect">
            <a:avLst/>
          </a:prstGeom>
        </p:spPr>
        <p:txBody>
          <a:bodyPr lIns="0" tIns="0" rIns="0" bIns="0" rtlCol="0" anchor="t">
            <a:spAutoFit/>
          </a:bodyPr>
          <a:lstStyle/>
          <a:p>
            <a:pPr algn="r">
              <a:lnSpc>
                <a:spcPts val="7839"/>
              </a:lnSpc>
              <a:spcBef>
                <a:spcPct val="0"/>
              </a:spcBef>
            </a:pPr>
            <a:r>
              <a:rPr lang="en-US" sz="5599" b="1">
                <a:solidFill>
                  <a:srgbClr val="2C5C56"/>
                </a:solidFill>
                <a:latin typeface="Muli Bold"/>
                <a:ea typeface="Muli Bold"/>
                <a:cs typeface="Muli Bold"/>
                <a:sym typeface="Muli Bold"/>
              </a:rPr>
              <a:t>Cấu trúc mạng thông tin di động GSM</a:t>
            </a:r>
          </a:p>
        </p:txBody>
      </p:sp>
      <p:sp>
        <p:nvSpPr>
          <p:cNvPr id="5" name="TextBox 5"/>
          <p:cNvSpPr txBox="1"/>
          <p:nvPr/>
        </p:nvSpPr>
        <p:spPr>
          <a:xfrm>
            <a:off x="1641073" y="2836013"/>
            <a:ext cx="14056616" cy="1602739"/>
          </a:xfrm>
          <a:prstGeom prst="rect">
            <a:avLst/>
          </a:prstGeom>
        </p:spPr>
        <p:txBody>
          <a:bodyPr lIns="0" tIns="0" rIns="0" bIns="0" rtlCol="0" anchor="t">
            <a:spAutoFit/>
          </a:bodyPr>
          <a:lstStyle/>
          <a:p>
            <a:pPr algn="just">
              <a:lnSpc>
                <a:spcPts val="5599"/>
              </a:lnSpc>
            </a:pPr>
            <a:r>
              <a:rPr lang="en-US" sz="3499">
                <a:solidFill>
                  <a:srgbClr val="2C5C56"/>
                </a:solidFill>
                <a:latin typeface="Muli Extra-Light"/>
                <a:ea typeface="Muli Extra-Light"/>
                <a:cs typeface="Muli Extra-Light"/>
                <a:sym typeface="Muli Extra-Light"/>
              </a:rPr>
              <a:t>Mạng GSM phân chia rõ ràng giữa phần lõi chuyển mạch (NSS) và phần truy cập vô tuyến (BSS).</a:t>
            </a:r>
          </a:p>
          <a:p>
            <a:pPr algn="just">
              <a:lnSpc>
                <a:spcPts val="1440"/>
              </a:lnSpc>
            </a:pPr>
            <a:endParaRPr lang="en-US" sz="3499">
              <a:solidFill>
                <a:srgbClr val="2C5C56"/>
              </a:solidFill>
              <a:latin typeface="Muli Extra-Light"/>
              <a:ea typeface="Muli Extra-Light"/>
              <a:cs typeface="Muli Extra-Light"/>
              <a:sym typeface="Muli Extra-Light"/>
            </a:endParaRPr>
          </a:p>
        </p:txBody>
      </p:sp>
      <p:sp>
        <p:nvSpPr>
          <p:cNvPr id="6" name="TextBox 6"/>
          <p:cNvSpPr txBox="1"/>
          <p:nvPr/>
        </p:nvSpPr>
        <p:spPr>
          <a:xfrm>
            <a:off x="1641073" y="4492560"/>
            <a:ext cx="14056616" cy="897889"/>
          </a:xfrm>
          <a:prstGeom prst="rect">
            <a:avLst/>
          </a:prstGeom>
        </p:spPr>
        <p:txBody>
          <a:bodyPr lIns="0" tIns="0" rIns="0" bIns="0" rtlCol="0" anchor="t">
            <a:spAutoFit/>
          </a:bodyPr>
          <a:lstStyle/>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MS kết nối với BTS qua giao diện vô tuyến (Um).</a:t>
            </a:r>
          </a:p>
          <a:p>
            <a:pPr algn="just">
              <a:lnSpc>
                <a:spcPts val="1440"/>
              </a:lnSpc>
            </a:pPr>
            <a:endParaRPr lang="en-US" sz="3499">
              <a:solidFill>
                <a:srgbClr val="2C5C56"/>
              </a:solidFill>
              <a:latin typeface="Muli Extra-Light"/>
              <a:ea typeface="Muli Extra-Light"/>
              <a:cs typeface="Muli Extra-Light"/>
              <a:sym typeface="Muli Extra-Light"/>
            </a:endParaRPr>
          </a:p>
        </p:txBody>
      </p:sp>
      <p:sp>
        <p:nvSpPr>
          <p:cNvPr id="7" name="TextBox 7"/>
          <p:cNvSpPr txBox="1"/>
          <p:nvPr/>
        </p:nvSpPr>
        <p:spPr>
          <a:xfrm>
            <a:off x="1641073" y="5447599"/>
            <a:ext cx="14056616" cy="897889"/>
          </a:xfrm>
          <a:prstGeom prst="rect">
            <a:avLst/>
          </a:prstGeom>
        </p:spPr>
        <p:txBody>
          <a:bodyPr lIns="0" tIns="0" rIns="0" bIns="0" rtlCol="0" anchor="t">
            <a:spAutoFit/>
          </a:bodyPr>
          <a:lstStyle/>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Nhiều BTS được quản lý bởi một BSC (giao diện A-bis).</a:t>
            </a:r>
          </a:p>
          <a:p>
            <a:pPr marL="194321" lvl="1" indent="-97161" algn="just">
              <a:lnSpc>
                <a:spcPts val="1440"/>
              </a:lnSpc>
              <a:buFont typeface="Arial"/>
              <a:buChar char="•"/>
            </a:pPr>
            <a:endParaRPr lang="en-US" sz="3499">
              <a:solidFill>
                <a:srgbClr val="2C5C56"/>
              </a:solidFill>
              <a:latin typeface="Muli Extra-Light"/>
              <a:ea typeface="Muli Extra-Light"/>
              <a:cs typeface="Muli Extra-Light"/>
              <a:sym typeface="Muli Extra-Light"/>
            </a:endParaRPr>
          </a:p>
        </p:txBody>
      </p:sp>
      <p:sp>
        <p:nvSpPr>
          <p:cNvPr id="8" name="TextBox 8"/>
          <p:cNvSpPr txBox="1"/>
          <p:nvPr/>
        </p:nvSpPr>
        <p:spPr>
          <a:xfrm>
            <a:off x="1641073" y="6402638"/>
            <a:ext cx="14056616" cy="897889"/>
          </a:xfrm>
          <a:prstGeom prst="rect">
            <a:avLst/>
          </a:prstGeom>
        </p:spPr>
        <p:txBody>
          <a:bodyPr lIns="0" tIns="0" rIns="0" bIns="0" rtlCol="0" anchor="t">
            <a:spAutoFit/>
          </a:bodyPr>
          <a:lstStyle/>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BSC kết nối vào MSC của tổng đài (giao diện A).</a:t>
            </a:r>
          </a:p>
          <a:p>
            <a:pPr marL="194321" lvl="1" indent="-97161" algn="just">
              <a:lnSpc>
                <a:spcPts val="1440"/>
              </a:lnSpc>
              <a:buFont typeface="Arial"/>
              <a:buChar char="•"/>
            </a:pPr>
            <a:endParaRPr lang="en-US" sz="3499">
              <a:solidFill>
                <a:srgbClr val="2C5C56"/>
              </a:solidFill>
              <a:latin typeface="Muli Extra-Light"/>
              <a:ea typeface="Muli Extra-Light"/>
              <a:cs typeface="Muli Extra-Light"/>
              <a:sym typeface="Muli Extra-Light"/>
            </a:endParaRPr>
          </a:p>
        </p:txBody>
      </p:sp>
      <p:sp>
        <p:nvSpPr>
          <p:cNvPr id="9" name="Freeform 9"/>
          <p:cNvSpPr/>
          <p:nvPr/>
        </p:nvSpPr>
        <p:spPr>
          <a:xfrm rot="2700000">
            <a:off x="-1968099" y="7251533"/>
            <a:ext cx="4357968" cy="4334197"/>
          </a:xfrm>
          <a:custGeom>
            <a:avLst/>
            <a:gdLst/>
            <a:ahLst/>
            <a:cxnLst/>
            <a:rect l="l" t="t" r="r" b="b"/>
            <a:pathLst>
              <a:path w="4357968" h="4334197">
                <a:moveTo>
                  <a:pt x="0" y="0"/>
                </a:moveTo>
                <a:lnTo>
                  <a:pt x="4357968" y="0"/>
                </a:lnTo>
                <a:lnTo>
                  <a:pt x="4357968" y="4334197"/>
                </a:lnTo>
                <a:lnTo>
                  <a:pt x="0" y="4334197"/>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p:cNvSpPr txBox="1"/>
          <p:nvPr/>
        </p:nvSpPr>
        <p:spPr>
          <a:xfrm>
            <a:off x="1641073" y="7357677"/>
            <a:ext cx="14056616" cy="1602739"/>
          </a:xfrm>
          <a:prstGeom prst="rect">
            <a:avLst/>
          </a:prstGeom>
        </p:spPr>
        <p:txBody>
          <a:bodyPr lIns="0" tIns="0" rIns="0" bIns="0" rtlCol="0" anchor="t">
            <a:spAutoFit/>
          </a:bodyPr>
          <a:lstStyle/>
          <a:p>
            <a:pPr marL="755647" lvl="1" indent="-377824" algn="just">
              <a:lnSpc>
                <a:spcPts val="5599"/>
              </a:lnSpc>
              <a:buFont typeface="Arial"/>
              <a:buChar char="•"/>
            </a:pPr>
            <a:r>
              <a:rPr lang="en-US" sz="3499">
                <a:solidFill>
                  <a:srgbClr val="2C5C56"/>
                </a:solidFill>
                <a:latin typeface="Muli Extra-Light"/>
                <a:ea typeface="Muli Extra-Light"/>
                <a:cs typeface="Muli Extra-Light"/>
                <a:sym typeface="Muli Extra-Light"/>
              </a:rPr>
              <a:t>MSC xử lý cuộc gọi và truy vấn cơ sở dữ liệu (HLR, VLR) để định vị và xác thực thuê bao.</a:t>
            </a:r>
          </a:p>
          <a:p>
            <a:pPr marL="194321" lvl="1" indent="-97161" algn="just">
              <a:lnSpc>
                <a:spcPts val="1440"/>
              </a:lnSpc>
              <a:buFont typeface="Arial"/>
              <a:buChar char="•"/>
            </a:pPr>
            <a:endParaRPr lang="en-US" sz="3499">
              <a:solidFill>
                <a:srgbClr val="2C5C56"/>
              </a:solidFill>
              <a:latin typeface="Muli Extra-Light"/>
              <a:ea typeface="Muli Extra-Light"/>
              <a:cs typeface="Muli Extra-Light"/>
              <a:sym typeface="Muli Extra-Light"/>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46665">
            <a:off x="13389284" y="-3971213"/>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611560" y="379611"/>
            <a:ext cx="14082161"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1: Tổng quan hệ thống GSM</a:t>
            </a:r>
          </a:p>
        </p:txBody>
      </p:sp>
      <p:sp>
        <p:nvSpPr>
          <p:cNvPr id="4" name="TextBox 4"/>
          <p:cNvSpPr txBox="1"/>
          <p:nvPr/>
        </p:nvSpPr>
        <p:spPr>
          <a:xfrm>
            <a:off x="154527" y="1664643"/>
            <a:ext cx="14002553" cy="962662"/>
          </a:xfrm>
          <a:prstGeom prst="rect">
            <a:avLst/>
          </a:prstGeom>
        </p:spPr>
        <p:txBody>
          <a:bodyPr lIns="0" tIns="0" rIns="0" bIns="0" rtlCol="0" anchor="t">
            <a:spAutoFit/>
          </a:bodyPr>
          <a:lstStyle/>
          <a:p>
            <a:pPr algn="ctr">
              <a:lnSpc>
                <a:spcPts val="7839"/>
              </a:lnSpc>
              <a:spcBef>
                <a:spcPct val="0"/>
              </a:spcBef>
            </a:pPr>
            <a:r>
              <a:rPr lang="en-US" sz="5599" b="1">
                <a:solidFill>
                  <a:srgbClr val="2C5C56"/>
                </a:solidFill>
                <a:latin typeface="Muli Bold"/>
                <a:ea typeface="Muli Bold"/>
                <a:cs typeface="Muli Bold"/>
                <a:sym typeface="Muli Bold"/>
              </a:rPr>
              <a:t>Cấu trúc địa lí của mạng di động </a:t>
            </a:r>
          </a:p>
        </p:txBody>
      </p:sp>
      <p:sp>
        <p:nvSpPr>
          <p:cNvPr id="5" name="TextBox 5"/>
          <p:cNvSpPr txBox="1"/>
          <p:nvPr/>
        </p:nvSpPr>
        <p:spPr>
          <a:xfrm>
            <a:off x="1641073" y="2826488"/>
            <a:ext cx="15116230" cy="2070100"/>
          </a:xfrm>
          <a:prstGeom prst="rect">
            <a:avLst/>
          </a:prstGeom>
        </p:spPr>
        <p:txBody>
          <a:bodyPr lIns="0" tIns="0" rIns="0" bIns="0" rtlCol="0" anchor="t">
            <a:spAutoFit/>
          </a:bodyPr>
          <a:lstStyle/>
          <a:p>
            <a:pPr algn="just">
              <a:lnSpc>
                <a:spcPts val="5600"/>
              </a:lnSpc>
            </a:pPr>
            <a:r>
              <a:rPr lang="en-US" sz="3500">
                <a:solidFill>
                  <a:srgbClr val="2C5C56"/>
                </a:solidFill>
                <a:latin typeface="Muli Extra-Light"/>
                <a:ea typeface="Muli Extra-Light"/>
                <a:cs typeface="Muli Extra-Light"/>
                <a:sym typeface="Muli Extra-Light"/>
              </a:rPr>
              <a:t>Do trạm di động (MS) thường di chuyển, việc định tuyến cuộc gọi trong mạng di động phức tạp hơn mạng cố định. Vì vậy, mạng được chia thành các vùng sau:</a:t>
            </a:r>
          </a:p>
        </p:txBody>
      </p:sp>
      <p:sp>
        <p:nvSpPr>
          <p:cNvPr id="6" name="TextBox 6"/>
          <p:cNvSpPr txBox="1"/>
          <p:nvPr/>
        </p:nvSpPr>
        <p:spPr>
          <a:xfrm>
            <a:off x="1641073" y="5010150"/>
            <a:ext cx="14056616" cy="2070100"/>
          </a:xfrm>
          <a:prstGeom prst="rect">
            <a:avLst/>
          </a:prstGeom>
        </p:spPr>
        <p:txBody>
          <a:bodyPr lIns="0" tIns="0" rIns="0" bIns="0" rtlCol="0" anchor="t">
            <a:spAutoFit/>
          </a:bodyPr>
          <a:lstStyle/>
          <a:p>
            <a:pPr marL="755651" lvl="1" indent="-377825" algn="just">
              <a:lnSpc>
                <a:spcPts val="5600"/>
              </a:lnSpc>
              <a:buFont typeface="Arial"/>
              <a:buChar char="•"/>
            </a:pPr>
            <a:r>
              <a:rPr lang="en-US" sz="3500">
                <a:solidFill>
                  <a:srgbClr val="2C5C56"/>
                </a:solidFill>
                <a:latin typeface="Muli Extra-Light"/>
                <a:ea typeface="Muli Extra-Light"/>
                <a:cs typeface="Muli Extra-Light"/>
                <a:sym typeface="Muli Extra-Light"/>
              </a:rPr>
              <a:t>Vùng mạng (PLMN): bao phủ toàn hệ thống di động. Có tổng đài GMSC thực hiện chuyển mạch và định tuyến cuộc gọi giữa mạng di động và các mạng công cộng.</a:t>
            </a:r>
          </a:p>
        </p:txBody>
      </p:sp>
      <p:sp>
        <p:nvSpPr>
          <p:cNvPr id="7" name="Freeform 7"/>
          <p:cNvSpPr/>
          <p:nvPr/>
        </p:nvSpPr>
        <p:spPr>
          <a:xfrm rot="2700000">
            <a:off x="-2542056" y="6201946"/>
            <a:ext cx="4357968" cy="4334197"/>
          </a:xfrm>
          <a:custGeom>
            <a:avLst/>
            <a:gdLst/>
            <a:ahLst/>
            <a:cxnLst/>
            <a:rect l="l" t="t" r="r" b="b"/>
            <a:pathLst>
              <a:path w="4357968" h="4334197">
                <a:moveTo>
                  <a:pt x="0" y="0"/>
                </a:moveTo>
                <a:lnTo>
                  <a:pt x="4357967" y="0"/>
                </a:lnTo>
                <a:lnTo>
                  <a:pt x="4357967" y="4334197"/>
                </a:lnTo>
                <a:lnTo>
                  <a:pt x="0" y="4334197"/>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TextBox 8"/>
          <p:cNvSpPr txBox="1"/>
          <p:nvPr/>
        </p:nvSpPr>
        <p:spPr>
          <a:xfrm>
            <a:off x="1641073" y="7280275"/>
            <a:ext cx="14056616" cy="2070100"/>
          </a:xfrm>
          <a:prstGeom prst="rect">
            <a:avLst/>
          </a:prstGeom>
        </p:spPr>
        <p:txBody>
          <a:bodyPr lIns="0" tIns="0" rIns="0" bIns="0" rtlCol="0" anchor="t">
            <a:spAutoFit/>
          </a:bodyPr>
          <a:lstStyle/>
          <a:p>
            <a:pPr marL="755651" lvl="1" indent="-377825" algn="just">
              <a:lnSpc>
                <a:spcPts val="5600"/>
              </a:lnSpc>
              <a:buFont typeface="Arial"/>
              <a:buChar char="•"/>
            </a:pPr>
            <a:r>
              <a:rPr lang="en-US" sz="3500">
                <a:solidFill>
                  <a:srgbClr val="2C5C56"/>
                </a:solidFill>
                <a:latin typeface="Muli Extra-Light"/>
                <a:ea typeface="Muli Extra-Light"/>
                <a:cs typeface="Muli Extra-Light"/>
                <a:sym typeface="Muli Extra-Light"/>
              </a:rPr>
              <a:t>Vùng phục vụ (MSC/VLR): do tổng đài MSC quản lý, đảm nhiệm định tuyến cuộc gọi đến thuê bao di động. Mỗi PLMN được chia thành nhiều vùng MSC/VLR.</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46665">
            <a:off x="13389284" y="-3971213"/>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611560" y="379611"/>
            <a:ext cx="14082161"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1: Tổng quan hệ thống GSM</a:t>
            </a:r>
          </a:p>
        </p:txBody>
      </p:sp>
      <p:sp>
        <p:nvSpPr>
          <p:cNvPr id="4" name="TextBox 4"/>
          <p:cNvSpPr txBox="1"/>
          <p:nvPr/>
        </p:nvSpPr>
        <p:spPr>
          <a:xfrm>
            <a:off x="154527" y="1664643"/>
            <a:ext cx="14002553" cy="962662"/>
          </a:xfrm>
          <a:prstGeom prst="rect">
            <a:avLst/>
          </a:prstGeom>
        </p:spPr>
        <p:txBody>
          <a:bodyPr lIns="0" tIns="0" rIns="0" bIns="0" rtlCol="0" anchor="t">
            <a:spAutoFit/>
          </a:bodyPr>
          <a:lstStyle/>
          <a:p>
            <a:pPr algn="ctr">
              <a:lnSpc>
                <a:spcPts val="7839"/>
              </a:lnSpc>
              <a:spcBef>
                <a:spcPct val="0"/>
              </a:spcBef>
            </a:pPr>
            <a:r>
              <a:rPr lang="en-US" sz="5599" b="1">
                <a:solidFill>
                  <a:srgbClr val="2C5C56"/>
                </a:solidFill>
                <a:latin typeface="Muli Bold"/>
                <a:ea typeface="Muli Bold"/>
                <a:cs typeface="Muli Bold"/>
                <a:sym typeface="Muli Bold"/>
              </a:rPr>
              <a:t>Cấu trúc địa lí của mạng di động </a:t>
            </a:r>
          </a:p>
        </p:txBody>
      </p:sp>
      <p:sp>
        <p:nvSpPr>
          <p:cNvPr id="5" name="TextBox 5"/>
          <p:cNvSpPr txBox="1"/>
          <p:nvPr/>
        </p:nvSpPr>
        <p:spPr>
          <a:xfrm>
            <a:off x="1641073" y="3073400"/>
            <a:ext cx="14056616" cy="2070100"/>
          </a:xfrm>
          <a:prstGeom prst="rect">
            <a:avLst/>
          </a:prstGeom>
        </p:spPr>
        <p:txBody>
          <a:bodyPr lIns="0" tIns="0" rIns="0" bIns="0" rtlCol="0" anchor="t">
            <a:spAutoFit/>
          </a:bodyPr>
          <a:lstStyle/>
          <a:p>
            <a:pPr marL="755651" lvl="1" indent="-377825" algn="just">
              <a:lnSpc>
                <a:spcPts val="5600"/>
              </a:lnSpc>
              <a:buFont typeface="Arial"/>
              <a:buChar char="•"/>
            </a:pPr>
            <a:r>
              <a:rPr lang="en-US" sz="3500">
                <a:solidFill>
                  <a:srgbClr val="2C5C56"/>
                </a:solidFill>
                <a:latin typeface="Muli Extra-Light"/>
                <a:ea typeface="Muli Extra-Light"/>
                <a:cs typeface="Muli Extra-Light"/>
                <a:sym typeface="Muli Extra-Light"/>
              </a:rPr>
              <a:t>Vùng định vị (LA): là các vùng nhỏ trong vùng MSC/VLR. MS có thể di chuyển tự do trong LA mà không cần cập nhật vị trí. Hệ thống nhận dạng vùng bằng LAI để tìm thuê bao đang hoạt động.</a:t>
            </a:r>
          </a:p>
        </p:txBody>
      </p:sp>
      <p:sp>
        <p:nvSpPr>
          <p:cNvPr id="6" name="Freeform 6"/>
          <p:cNvSpPr/>
          <p:nvPr/>
        </p:nvSpPr>
        <p:spPr>
          <a:xfrm rot="2700000">
            <a:off x="-2542056" y="6201946"/>
            <a:ext cx="4357968" cy="4334197"/>
          </a:xfrm>
          <a:custGeom>
            <a:avLst/>
            <a:gdLst/>
            <a:ahLst/>
            <a:cxnLst/>
            <a:rect l="l" t="t" r="r" b="b"/>
            <a:pathLst>
              <a:path w="4357968" h="4334197">
                <a:moveTo>
                  <a:pt x="0" y="0"/>
                </a:moveTo>
                <a:lnTo>
                  <a:pt x="4357967" y="0"/>
                </a:lnTo>
                <a:lnTo>
                  <a:pt x="4357967" y="4334197"/>
                </a:lnTo>
                <a:lnTo>
                  <a:pt x="0" y="4334197"/>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1641073" y="5591175"/>
            <a:ext cx="14056616" cy="2774950"/>
          </a:xfrm>
          <a:prstGeom prst="rect">
            <a:avLst/>
          </a:prstGeom>
        </p:spPr>
        <p:txBody>
          <a:bodyPr lIns="0" tIns="0" rIns="0" bIns="0" rtlCol="0" anchor="t">
            <a:spAutoFit/>
          </a:bodyPr>
          <a:lstStyle/>
          <a:p>
            <a:pPr marL="755651" lvl="1" indent="-377825" algn="just">
              <a:lnSpc>
                <a:spcPts val="5600"/>
              </a:lnSpc>
              <a:buFont typeface="Arial"/>
              <a:buChar char="•"/>
            </a:pPr>
            <a:r>
              <a:rPr lang="en-US" sz="3500">
                <a:solidFill>
                  <a:srgbClr val="2C5C56"/>
                </a:solidFill>
                <a:latin typeface="Muli Extra-Light"/>
                <a:ea typeface="Muli Extra-Light"/>
                <a:cs typeface="Muli Extra-Light"/>
                <a:sym typeface="Muli Extra-Light"/>
              </a:rPr>
              <a:t>Ô (Cell): đơn vị nhỏ nhất trong vùng định vị. Mỗi ô có một trạm gốc BTS, phủ sóng vô tuyến riêng. MS nhận dạng ô bằng mã BSIC, hệ thống nhận bằng CGI. Cuộc gọi được liên lạc trực tiếp giữa BTS và MS.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46665">
            <a:off x="14934555" y="-2971322"/>
            <a:ext cx="7202852" cy="7163563"/>
          </a:xfrm>
          <a:custGeom>
            <a:avLst/>
            <a:gdLst/>
            <a:ahLst/>
            <a:cxnLst/>
            <a:rect l="l" t="t" r="r" b="b"/>
            <a:pathLst>
              <a:path w="7202852" h="7163563">
                <a:moveTo>
                  <a:pt x="0" y="0"/>
                </a:moveTo>
                <a:lnTo>
                  <a:pt x="7202851" y="0"/>
                </a:lnTo>
                <a:lnTo>
                  <a:pt x="7202851"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2700000">
            <a:off x="-2542056" y="6201946"/>
            <a:ext cx="4357968" cy="4334197"/>
          </a:xfrm>
          <a:custGeom>
            <a:avLst/>
            <a:gdLst/>
            <a:ahLst/>
            <a:cxnLst/>
            <a:rect l="l" t="t" r="r" b="b"/>
            <a:pathLst>
              <a:path w="4357968" h="4334197">
                <a:moveTo>
                  <a:pt x="0" y="0"/>
                </a:moveTo>
                <a:lnTo>
                  <a:pt x="4357967" y="0"/>
                </a:lnTo>
                <a:lnTo>
                  <a:pt x="4357967" y="4334197"/>
                </a:lnTo>
                <a:lnTo>
                  <a:pt x="0" y="4334197"/>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9121925" y="6042025"/>
            <a:ext cx="8647589" cy="2991577"/>
          </a:xfrm>
          <a:custGeom>
            <a:avLst/>
            <a:gdLst/>
            <a:ahLst/>
            <a:cxnLst/>
            <a:rect l="l" t="t" r="r" b="b"/>
            <a:pathLst>
              <a:path w="8647589" h="2991577">
                <a:moveTo>
                  <a:pt x="0" y="0"/>
                </a:moveTo>
                <a:lnTo>
                  <a:pt x="8647589" y="0"/>
                </a:lnTo>
                <a:lnTo>
                  <a:pt x="8647589" y="2991576"/>
                </a:lnTo>
                <a:lnTo>
                  <a:pt x="0" y="2991576"/>
                </a:lnTo>
                <a:lnTo>
                  <a:pt x="0" y="0"/>
                </a:lnTo>
                <a:close/>
              </a:path>
            </a:pathLst>
          </a:custGeom>
          <a:blipFill>
            <a:blip r:embed="rId4"/>
            <a:stretch>
              <a:fillRect l="-136" r="-136"/>
            </a:stretch>
          </a:blipFill>
        </p:spPr>
        <p:txBody>
          <a:bodyPr/>
          <a:lstStyle/>
          <a:p>
            <a:endParaRPr lang="en-US"/>
          </a:p>
        </p:txBody>
      </p:sp>
      <p:sp>
        <p:nvSpPr>
          <p:cNvPr id="5" name="TextBox 5"/>
          <p:cNvSpPr txBox="1"/>
          <p:nvPr/>
        </p:nvSpPr>
        <p:spPr>
          <a:xfrm>
            <a:off x="611560" y="379611"/>
            <a:ext cx="14744420"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2: Các loại kênh trong hệ thống GSM</a:t>
            </a:r>
          </a:p>
        </p:txBody>
      </p:sp>
      <p:sp>
        <p:nvSpPr>
          <p:cNvPr id="6" name="TextBox 6"/>
          <p:cNvSpPr txBox="1"/>
          <p:nvPr/>
        </p:nvSpPr>
        <p:spPr>
          <a:xfrm>
            <a:off x="154527" y="1664643"/>
            <a:ext cx="11993702" cy="962662"/>
          </a:xfrm>
          <a:prstGeom prst="rect">
            <a:avLst/>
          </a:prstGeom>
        </p:spPr>
        <p:txBody>
          <a:bodyPr lIns="0" tIns="0" rIns="0" bIns="0" rtlCol="0" anchor="t">
            <a:spAutoFit/>
          </a:bodyPr>
          <a:lstStyle/>
          <a:p>
            <a:pPr algn="ctr">
              <a:lnSpc>
                <a:spcPts val="7839"/>
              </a:lnSpc>
              <a:spcBef>
                <a:spcPct val="0"/>
              </a:spcBef>
            </a:pPr>
            <a:r>
              <a:rPr lang="en-US" sz="5599" b="1">
                <a:solidFill>
                  <a:srgbClr val="2C5C56"/>
                </a:solidFill>
                <a:latin typeface="Muli Bold"/>
                <a:ea typeface="Muli Bold"/>
                <a:cs typeface="Muli Bold"/>
                <a:sym typeface="Muli Bold"/>
              </a:rPr>
              <a:t>Kênh Vật Lý (Physical Channel)</a:t>
            </a:r>
          </a:p>
        </p:txBody>
      </p:sp>
      <p:sp>
        <p:nvSpPr>
          <p:cNvPr id="7" name="TextBox 7"/>
          <p:cNvSpPr txBox="1"/>
          <p:nvPr/>
        </p:nvSpPr>
        <p:spPr>
          <a:xfrm>
            <a:off x="1641073" y="3073400"/>
            <a:ext cx="15618227" cy="660400"/>
          </a:xfrm>
          <a:prstGeom prst="rect">
            <a:avLst/>
          </a:prstGeom>
        </p:spPr>
        <p:txBody>
          <a:bodyPr lIns="0" tIns="0" rIns="0" bIns="0" rtlCol="0" anchor="t">
            <a:spAutoFit/>
          </a:bodyPr>
          <a:lstStyle/>
          <a:p>
            <a:pPr algn="just">
              <a:lnSpc>
                <a:spcPts val="5600"/>
              </a:lnSpc>
            </a:pPr>
            <a:r>
              <a:rPr lang="en-US" sz="3500">
                <a:solidFill>
                  <a:srgbClr val="2C5C56"/>
                </a:solidFill>
                <a:latin typeface="Muli Extra-Light"/>
                <a:ea typeface="Muli Extra-Light"/>
                <a:cs typeface="Muli Extra-Light"/>
                <a:sym typeface="Muli Extra-Light"/>
              </a:rPr>
              <a:t>Là tài nguyên vô tuyến cơ bản trên giao diện không dây, được định nghĩa bởi:</a:t>
            </a:r>
          </a:p>
        </p:txBody>
      </p:sp>
      <p:sp>
        <p:nvSpPr>
          <p:cNvPr id="8" name="TextBox 8"/>
          <p:cNvSpPr txBox="1"/>
          <p:nvPr/>
        </p:nvSpPr>
        <p:spPr>
          <a:xfrm>
            <a:off x="1641073" y="3971925"/>
            <a:ext cx="14961703" cy="2070100"/>
          </a:xfrm>
          <a:prstGeom prst="rect">
            <a:avLst/>
          </a:prstGeom>
        </p:spPr>
        <p:txBody>
          <a:bodyPr lIns="0" tIns="0" rIns="0" bIns="0" rtlCol="0" anchor="t">
            <a:spAutoFit/>
          </a:bodyPr>
          <a:lstStyle/>
          <a:p>
            <a:pPr marL="755651" lvl="1" indent="-377825" algn="just">
              <a:lnSpc>
                <a:spcPts val="5600"/>
              </a:lnSpc>
              <a:buFont typeface="Arial"/>
              <a:buChar char="•"/>
            </a:pPr>
            <a:r>
              <a:rPr lang="en-US" sz="3500">
                <a:solidFill>
                  <a:srgbClr val="2C5C56"/>
                </a:solidFill>
                <a:latin typeface="Muli Extra-Light"/>
                <a:ea typeface="Muli Extra-Light"/>
                <a:cs typeface="Muli Extra-Light"/>
                <a:sym typeface="Muli Extra-Light"/>
              </a:rPr>
              <a:t>Một tần số sóng mang (FDMA).</a:t>
            </a:r>
          </a:p>
          <a:p>
            <a:pPr marL="755651" lvl="1" indent="-377825" algn="just">
              <a:lnSpc>
                <a:spcPts val="5600"/>
              </a:lnSpc>
              <a:buFont typeface="Arial"/>
              <a:buChar char="•"/>
            </a:pPr>
            <a:r>
              <a:rPr lang="en-US" sz="3500">
                <a:solidFill>
                  <a:srgbClr val="2C5C56"/>
                </a:solidFill>
                <a:latin typeface="Muli Extra-Light"/>
                <a:ea typeface="Muli Extra-Light"/>
                <a:cs typeface="Muli Extra-Light"/>
                <a:sym typeface="Muli Extra-Light"/>
              </a:rPr>
              <a:t>Một khe thời gian (Time Slot) trong khung TDMA.</a:t>
            </a:r>
          </a:p>
          <a:p>
            <a:pPr algn="just">
              <a:lnSpc>
                <a:spcPts val="5600"/>
              </a:lnSpc>
            </a:pPr>
            <a:endParaRPr lang="en-US" sz="3500">
              <a:solidFill>
                <a:srgbClr val="2C5C56"/>
              </a:solidFill>
              <a:latin typeface="Muli Extra-Light"/>
              <a:ea typeface="Muli Extra-Light"/>
              <a:cs typeface="Muli Extra-Light"/>
              <a:sym typeface="Muli Extra-Light"/>
            </a:endParaRPr>
          </a:p>
        </p:txBody>
      </p:sp>
      <p:sp>
        <p:nvSpPr>
          <p:cNvPr id="9" name="TextBox 9"/>
          <p:cNvSpPr txBox="1"/>
          <p:nvPr/>
        </p:nvSpPr>
        <p:spPr>
          <a:xfrm>
            <a:off x="1641073" y="5743575"/>
            <a:ext cx="6964712" cy="3479800"/>
          </a:xfrm>
          <a:prstGeom prst="rect">
            <a:avLst/>
          </a:prstGeom>
        </p:spPr>
        <p:txBody>
          <a:bodyPr lIns="0" tIns="0" rIns="0" bIns="0" rtlCol="0" anchor="t">
            <a:spAutoFit/>
          </a:bodyPr>
          <a:lstStyle/>
          <a:p>
            <a:pPr algn="l">
              <a:lnSpc>
                <a:spcPts val="5600"/>
              </a:lnSpc>
            </a:pPr>
            <a:r>
              <a:rPr lang="en-US" sz="3500">
                <a:solidFill>
                  <a:srgbClr val="2C5C56"/>
                </a:solidFill>
                <a:latin typeface="Muli Extra-Light"/>
                <a:ea typeface="Muli Extra-Light"/>
                <a:cs typeface="Muli Extra-Light"/>
                <a:sym typeface="Muli Extra-Light"/>
              </a:rPr>
              <a:t>Trong GSM, 1 khung TDMA (≈4.615 ms) được chia thành 8 khe thời gian. Mỗi khe thời gian (≈577 µs) là một kênh vật lý.</a:t>
            </a:r>
          </a:p>
          <a:p>
            <a:pPr algn="just">
              <a:lnSpc>
                <a:spcPts val="5600"/>
              </a:lnSpc>
            </a:pPr>
            <a:endParaRPr lang="en-US" sz="3500">
              <a:solidFill>
                <a:srgbClr val="2C5C56"/>
              </a:solidFill>
              <a:latin typeface="Muli Extra-Light"/>
              <a:ea typeface="Muli Extra-Light"/>
              <a:cs typeface="Muli Extra-Light"/>
              <a:sym typeface="Muli Extra-Light"/>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46665">
            <a:off x="14934555" y="-2971322"/>
            <a:ext cx="7202852" cy="7163563"/>
          </a:xfrm>
          <a:custGeom>
            <a:avLst/>
            <a:gdLst/>
            <a:ahLst/>
            <a:cxnLst/>
            <a:rect l="l" t="t" r="r" b="b"/>
            <a:pathLst>
              <a:path w="7202852" h="7163563">
                <a:moveTo>
                  <a:pt x="0" y="0"/>
                </a:moveTo>
                <a:lnTo>
                  <a:pt x="7202851" y="0"/>
                </a:lnTo>
                <a:lnTo>
                  <a:pt x="7202851"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2700000">
            <a:off x="-2542056" y="6201946"/>
            <a:ext cx="4357968" cy="4334197"/>
          </a:xfrm>
          <a:custGeom>
            <a:avLst/>
            <a:gdLst/>
            <a:ahLst/>
            <a:cxnLst/>
            <a:rect l="l" t="t" r="r" b="b"/>
            <a:pathLst>
              <a:path w="4357968" h="4334197">
                <a:moveTo>
                  <a:pt x="0" y="0"/>
                </a:moveTo>
                <a:lnTo>
                  <a:pt x="4357967" y="0"/>
                </a:lnTo>
                <a:lnTo>
                  <a:pt x="4357967" y="4334197"/>
                </a:lnTo>
                <a:lnTo>
                  <a:pt x="0" y="4334197"/>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2325798" y="2848451"/>
            <a:ext cx="6210183" cy="6145250"/>
          </a:xfrm>
          <a:custGeom>
            <a:avLst/>
            <a:gdLst/>
            <a:ahLst/>
            <a:cxnLst/>
            <a:rect l="l" t="t" r="r" b="b"/>
            <a:pathLst>
              <a:path w="6210183" h="6145250">
                <a:moveTo>
                  <a:pt x="0" y="0"/>
                </a:moveTo>
                <a:lnTo>
                  <a:pt x="6210183" y="0"/>
                </a:lnTo>
                <a:lnTo>
                  <a:pt x="6210183" y="6145250"/>
                </a:lnTo>
                <a:lnTo>
                  <a:pt x="0" y="6145250"/>
                </a:lnTo>
                <a:lnTo>
                  <a:pt x="0" y="0"/>
                </a:lnTo>
                <a:close/>
              </a:path>
            </a:pathLst>
          </a:custGeom>
          <a:blipFill>
            <a:blip r:embed="rId4"/>
            <a:stretch>
              <a:fillRect l="-5199" b="-2829"/>
            </a:stretch>
          </a:blipFill>
        </p:spPr>
        <p:txBody>
          <a:bodyPr/>
          <a:lstStyle/>
          <a:p>
            <a:endParaRPr lang="en-US"/>
          </a:p>
        </p:txBody>
      </p:sp>
      <p:sp>
        <p:nvSpPr>
          <p:cNvPr id="5" name="TextBox 5"/>
          <p:cNvSpPr txBox="1"/>
          <p:nvPr/>
        </p:nvSpPr>
        <p:spPr>
          <a:xfrm>
            <a:off x="611560" y="379611"/>
            <a:ext cx="14744420"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2: Các loại kênh trong hệ thống GSM</a:t>
            </a:r>
          </a:p>
        </p:txBody>
      </p:sp>
      <p:sp>
        <p:nvSpPr>
          <p:cNvPr id="6" name="TextBox 6"/>
          <p:cNvSpPr txBox="1"/>
          <p:nvPr/>
        </p:nvSpPr>
        <p:spPr>
          <a:xfrm>
            <a:off x="154527" y="1664643"/>
            <a:ext cx="11618422" cy="962662"/>
          </a:xfrm>
          <a:prstGeom prst="rect">
            <a:avLst/>
          </a:prstGeom>
        </p:spPr>
        <p:txBody>
          <a:bodyPr lIns="0" tIns="0" rIns="0" bIns="0" rtlCol="0" anchor="t">
            <a:spAutoFit/>
          </a:bodyPr>
          <a:lstStyle/>
          <a:p>
            <a:pPr algn="ctr">
              <a:lnSpc>
                <a:spcPts val="7839"/>
              </a:lnSpc>
              <a:spcBef>
                <a:spcPct val="0"/>
              </a:spcBef>
            </a:pPr>
            <a:r>
              <a:rPr lang="en-US" sz="5599" b="1">
                <a:solidFill>
                  <a:srgbClr val="2C5C56"/>
                </a:solidFill>
                <a:latin typeface="Muli Bold"/>
                <a:ea typeface="Muli Bold"/>
                <a:cs typeface="Muli Bold"/>
                <a:sym typeface="Muli Bold"/>
              </a:rPr>
              <a:t>Kênh Logic (Logical Channel)</a:t>
            </a:r>
          </a:p>
        </p:txBody>
      </p:sp>
      <p:sp>
        <p:nvSpPr>
          <p:cNvPr id="7" name="TextBox 7"/>
          <p:cNvSpPr txBox="1"/>
          <p:nvPr/>
        </p:nvSpPr>
        <p:spPr>
          <a:xfrm>
            <a:off x="1464471" y="2651125"/>
            <a:ext cx="10131876" cy="2774950"/>
          </a:xfrm>
          <a:prstGeom prst="rect">
            <a:avLst/>
          </a:prstGeom>
        </p:spPr>
        <p:txBody>
          <a:bodyPr lIns="0" tIns="0" rIns="0" bIns="0" rtlCol="0" anchor="t">
            <a:spAutoFit/>
          </a:bodyPr>
          <a:lstStyle/>
          <a:p>
            <a:pPr algn="just">
              <a:lnSpc>
                <a:spcPts val="5600"/>
              </a:lnSpc>
            </a:pPr>
            <a:r>
              <a:rPr lang="en-US" sz="3500">
                <a:solidFill>
                  <a:srgbClr val="2C5C56"/>
                </a:solidFill>
                <a:latin typeface="Muli Extra-Light"/>
                <a:ea typeface="Muli Extra-Light"/>
                <a:cs typeface="Muli Extra-Light"/>
                <a:sym typeface="Muli Extra-Light"/>
              </a:rPr>
              <a:t>Là các kênh "trừu tượng" định nghĩa loại thông tin được truyền. Kênh logic được ánh xạ (mapping) lên các kênh vật lý.</a:t>
            </a:r>
          </a:p>
          <a:p>
            <a:pPr algn="just">
              <a:lnSpc>
                <a:spcPts val="5600"/>
              </a:lnSpc>
            </a:pPr>
            <a:endParaRPr lang="en-US" sz="3500">
              <a:solidFill>
                <a:srgbClr val="2C5C56"/>
              </a:solidFill>
              <a:latin typeface="Muli Extra-Light"/>
              <a:ea typeface="Muli Extra-Light"/>
              <a:cs typeface="Muli Extra-Light"/>
              <a:sym typeface="Muli Extra-Light"/>
            </a:endParaRPr>
          </a:p>
        </p:txBody>
      </p:sp>
      <p:sp>
        <p:nvSpPr>
          <p:cNvPr id="8" name="TextBox 8"/>
          <p:cNvSpPr txBox="1"/>
          <p:nvPr/>
        </p:nvSpPr>
        <p:spPr>
          <a:xfrm>
            <a:off x="1464471" y="5010150"/>
            <a:ext cx="7075089" cy="1365250"/>
          </a:xfrm>
          <a:prstGeom prst="rect">
            <a:avLst/>
          </a:prstGeom>
        </p:spPr>
        <p:txBody>
          <a:bodyPr lIns="0" tIns="0" rIns="0" bIns="0" rtlCol="0" anchor="t">
            <a:spAutoFit/>
          </a:bodyPr>
          <a:lstStyle/>
          <a:p>
            <a:pPr algn="l">
              <a:lnSpc>
                <a:spcPts val="5600"/>
              </a:lnSpc>
            </a:pPr>
            <a:r>
              <a:rPr lang="en-US" sz="3500">
                <a:solidFill>
                  <a:srgbClr val="2C5C56"/>
                </a:solidFill>
                <a:latin typeface="Muli Extra-Light"/>
                <a:ea typeface="Muli Extra-Light"/>
                <a:cs typeface="Muli Extra-Light"/>
                <a:sym typeface="Muli Extra-Light"/>
              </a:rPr>
              <a:t>Có 2 nhóm kênh logic chính:</a:t>
            </a:r>
          </a:p>
          <a:p>
            <a:pPr algn="just">
              <a:lnSpc>
                <a:spcPts val="5600"/>
              </a:lnSpc>
            </a:pPr>
            <a:endParaRPr lang="en-US" sz="3500">
              <a:solidFill>
                <a:srgbClr val="2C5C56"/>
              </a:solidFill>
              <a:latin typeface="Muli Extra-Light"/>
              <a:ea typeface="Muli Extra-Light"/>
              <a:cs typeface="Muli Extra-Light"/>
              <a:sym typeface="Muli Extra-Light"/>
            </a:endParaRPr>
          </a:p>
        </p:txBody>
      </p:sp>
      <p:sp>
        <p:nvSpPr>
          <p:cNvPr id="9" name="TextBox 9"/>
          <p:cNvSpPr txBox="1"/>
          <p:nvPr/>
        </p:nvSpPr>
        <p:spPr>
          <a:xfrm>
            <a:off x="1334887" y="5787726"/>
            <a:ext cx="10872039" cy="4889500"/>
          </a:xfrm>
          <a:prstGeom prst="rect">
            <a:avLst/>
          </a:prstGeom>
        </p:spPr>
        <p:txBody>
          <a:bodyPr lIns="0" tIns="0" rIns="0" bIns="0" rtlCol="0" anchor="t">
            <a:spAutoFit/>
          </a:bodyPr>
          <a:lstStyle/>
          <a:p>
            <a:pPr marL="755651" lvl="1" indent="-377825" algn="just">
              <a:lnSpc>
                <a:spcPts val="5600"/>
              </a:lnSpc>
              <a:buFont typeface="Arial"/>
              <a:buChar char="•"/>
            </a:pPr>
            <a:r>
              <a:rPr lang="en-US" sz="3500">
                <a:solidFill>
                  <a:srgbClr val="2C5C56"/>
                </a:solidFill>
                <a:latin typeface="Muli Extra-Light"/>
                <a:ea typeface="Muli Extra-Light"/>
                <a:cs typeface="Muli Extra-Light"/>
                <a:sym typeface="Muli Extra-Light"/>
              </a:rPr>
              <a:t>TCH (Traffic Channel): Kênh lưu lượng, dùng để truyền dữ liệu người dùng (thoại hoặc data).</a:t>
            </a:r>
          </a:p>
          <a:p>
            <a:pPr marL="755651" lvl="1" indent="-377825" algn="just">
              <a:lnSpc>
                <a:spcPts val="5600"/>
              </a:lnSpc>
              <a:buFont typeface="Arial"/>
              <a:buChar char="•"/>
            </a:pPr>
            <a:r>
              <a:rPr lang="en-US" sz="3500">
                <a:solidFill>
                  <a:srgbClr val="2C5C56"/>
                </a:solidFill>
                <a:latin typeface="Muli Extra-Light"/>
                <a:ea typeface="Muli Extra-Light"/>
                <a:cs typeface="Muli Extra-Light"/>
                <a:sym typeface="Muli Extra-Light"/>
              </a:rPr>
              <a:t>CCH (Control Channel): Kênh điều khiển, dùng để truyền tín hiệu báo hiệu, quản lý và đồng bộ hệ thống.</a:t>
            </a:r>
          </a:p>
          <a:p>
            <a:pPr algn="just">
              <a:lnSpc>
                <a:spcPts val="5600"/>
              </a:lnSpc>
            </a:pPr>
            <a:endParaRPr lang="en-US" sz="3500">
              <a:solidFill>
                <a:srgbClr val="2C5C56"/>
              </a:solidFill>
              <a:latin typeface="Muli Extra-Light"/>
              <a:ea typeface="Muli Extra-Light"/>
              <a:cs typeface="Muli Extra-Light"/>
              <a:sym typeface="Muli Extra-Light"/>
            </a:endParaRPr>
          </a:p>
          <a:p>
            <a:pPr algn="just">
              <a:lnSpc>
                <a:spcPts val="5600"/>
              </a:lnSpc>
            </a:pPr>
            <a:endParaRPr lang="en-US" sz="3500">
              <a:solidFill>
                <a:srgbClr val="2C5C56"/>
              </a:solidFill>
              <a:latin typeface="Muli Extra-Light"/>
              <a:ea typeface="Muli Extra-Light"/>
              <a:cs typeface="Muli Extra-Light"/>
              <a:sym typeface="Muli Extra-Ligh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2330326" y="6287128"/>
            <a:ext cx="4002324" cy="3980493"/>
          </a:xfrm>
          <a:custGeom>
            <a:avLst/>
            <a:gdLst/>
            <a:ahLst/>
            <a:cxnLst/>
            <a:rect l="l" t="t" r="r" b="b"/>
            <a:pathLst>
              <a:path w="4002324" h="3980493">
                <a:moveTo>
                  <a:pt x="0" y="0"/>
                </a:moveTo>
                <a:lnTo>
                  <a:pt x="4002324" y="0"/>
                </a:lnTo>
                <a:lnTo>
                  <a:pt x="4002324" y="3980493"/>
                </a:lnTo>
                <a:lnTo>
                  <a:pt x="0" y="398049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2917869" y="1691262"/>
            <a:ext cx="5158919" cy="3604638"/>
          </a:xfrm>
          <a:custGeom>
            <a:avLst/>
            <a:gdLst/>
            <a:ahLst/>
            <a:cxnLst/>
            <a:rect l="l" t="t" r="r" b="b"/>
            <a:pathLst>
              <a:path w="5158919" h="3604638">
                <a:moveTo>
                  <a:pt x="0" y="0"/>
                </a:moveTo>
                <a:lnTo>
                  <a:pt x="5158919" y="0"/>
                </a:lnTo>
                <a:lnTo>
                  <a:pt x="5158919" y="3604638"/>
                </a:lnTo>
                <a:lnTo>
                  <a:pt x="0" y="3604638"/>
                </a:lnTo>
                <a:lnTo>
                  <a:pt x="0" y="0"/>
                </a:lnTo>
                <a:close/>
              </a:path>
            </a:pathLst>
          </a:custGeom>
          <a:blipFill>
            <a:blip r:embed="rId4"/>
            <a:stretch>
              <a:fillRect t="-35197" b="-32356"/>
            </a:stretch>
          </a:blipFill>
        </p:spPr>
        <p:txBody>
          <a:bodyPr/>
          <a:lstStyle/>
          <a:p>
            <a:endParaRPr lang="en-US"/>
          </a:p>
        </p:txBody>
      </p:sp>
      <p:sp>
        <p:nvSpPr>
          <p:cNvPr id="4" name="TextBox 4"/>
          <p:cNvSpPr txBox="1"/>
          <p:nvPr/>
        </p:nvSpPr>
        <p:spPr>
          <a:xfrm>
            <a:off x="611560" y="379611"/>
            <a:ext cx="14744420"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2: Các loại kênh trong hệ thống GSM</a:t>
            </a:r>
          </a:p>
        </p:txBody>
      </p:sp>
      <p:sp>
        <p:nvSpPr>
          <p:cNvPr id="5" name="TextBox 5"/>
          <p:cNvSpPr txBox="1"/>
          <p:nvPr/>
        </p:nvSpPr>
        <p:spPr>
          <a:xfrm>
            <a:off x="611560" y="1576962"/>
            <a:ext cx="8532440" cy="962662"/>
          </a:xfrm>
          <a:prstGeom prst="rect">
            <a:avLst/>
          </a:prstGeom>
        </p:spPr>
        <p:txBody>
          <a:bodyPr lIns="0" tIns="0" rIns="0" bIns="0" rtlCol="0" anchor="t">
            <a:spAutoFit/>
          </a:bodyPr>
          <a:lstStyle/>
          <a:p>
            <a:pPr algn="ctr">
              <a:lnSpc>
                <a:spcPts val="7839"/>
              </a:lnSpc>
              <a:spcBef>
                <a:spcPct val="0"/>
              </a:spcBef>
            </a:pPr>
            <a:r>
              <a:rPr lang="en-US" sz="5599" b="1">
                <a:solidFill>
                  <a:srgbClr val="2C5C56"/>
                </a:solidFill>
                <a:latin typeface="Muli Bold"/>
                <a:ea typeface="Muli Bold"/>
                <a:cs typeface="Muli Bold"/>
                <a:sym typeface="Muli Bold"/>
              </a:rPr>
              <a:t>Cấu trúc khung TDMA</a:t>
            </a:r>
          </a:p>
        </p:txBody>
      </p:sp>
      <p:sp>
        <p:nvSpPr>
          <p:cNvPr id="6" name="TextBox 6"/>
          <p:cNvSpPr txBox="1"/>
          <p:nvPr/>
        </p:nvSpPr>
        <p:spPr>
          <a:xfrm>
            <a:off x="1191858" y="2672974"/>
            <a:ext cx="11327379" cy="1892996"/>
          </a:xfrm>
          <a:prstGeom prst="rect">
            <a:avLst/>
          </a:prstGeom>
        </p:spPr>
        <p:txBody>
          <a:bodyPr lIns="0" tIns="0" rIns="0" bIns="0" rtlCol="0" anchor="t">
            <a:spAutoFit/>
          </a:bodyPr>
          <a:lstStyle/>
          <a:p>
            <a:pPr algn="just">
              <a:lnSpc>
                <a:spcPts val="5143"/>
              </a:lnSpc>
            </a:pPr>
            <a:r>
              <a:rPr lang="en-US" sz="3214">
                <a:solidFill>
                  <a:srgbClr val="2C5C56"/>
                </a:solidFill>
                <a:latin typeface="Muli Extra-Light"/>
                <a:ea typeface="Muli Extra-Light"/>
                <a:cs typeface="Muli Extra-Light"/>
                <a:sym typeface="Muli Extra-Light"/>
              </a:rPr>
              <a:t>Cấu trúc phân cấp thời gian của GSM rất quan trọng để tổ chức các kênh logic:</a:t>
            </a:r>
          </a:p>
          <a:p>
            <a:pPr algn="just">
              <a:lnSpc>
                <a:spcPts val="5143"/>
              </a:lnSpc>
            </a:pPr>
            <a:endParaRPr lang="en-US" sz="3214">
              <a:solidFill>
                <a:srgbClr val="2C5C56"/>
              </a:solidFill>
              <a:latin typeface="Muli Extra-Light"/>
              <a:ea typeface="Muli Extra-Light"/>
              <a:cs typeface="Muli Extra-Light"/>
              <a:sym typeface="Muli Extra-Light"/>
            </a:endParaRPr>
          </a:p>
        </p:txBody>
      </p:sp>
      <p:sp>
        <p:nvSpPr>
          <p:cNvPr id="7" name="TextBox 7"/>
          <p:cNvSpPr txBox="1"/>
          <p:nvPr/>
        </p:nvSpPr>
        <p:spPr>
          <a:xfrm>
            <a:off x="1191858" y="3999228"/>
            <a:ext cx="11726011" cy="1892996"/>
          </a:xfrm>
          <a:prstGeom prst="rect">
            <a:avLst/>
          </a:prstGeom>
        </p:spPr>
        <p:txBody>
          <a:bodyPr lIns="0" tIns="0" rIns="0" bIns="0" rtlCol="0" anchor="t">
            <a:spAutoFit/>
          </a:bodyPr>
          <a:lstStyle/>
          <a:p>
            <a:pPr marL="693984" lvl="1" indent="-346992" algn="just">
              <a:lnSpc>
                <a:spcPts val="5143"/>
              </a:lnSpc>
              <a:buFont typeface="Arial"/>
              <a:buChar char="•"/>
            </a:pPr>
            <a:r>
              <a:rPr lang="en-US" sz="3214">
                <a:solidFill>
                  <a:srgbClr val="2C5C56"/>
                </a:solidFill>
                <a:latin typeface="Muli Extra-Light"/>
                <a:ea typeface="Muli Extra-Light"/>
                <a:cs typeface="Muli Extra-Light"/>
                <a:sym typeface="Muli Extra-Light"/>
              </a:rPr>
              <a:t>Khung TDMA: Đơn vị cơ bản, chứa 8 khe thời gian (Time Slots).</a:t>
            </a:r>
          </a:p>
          <a:p>
            <a:pPr algn="just">
              <a:lnSpc>
                <a:spcPts val="5143"/>
              </a:lnSpc>
            </a:pPr>
            <a:endParaRPr lang="en-US" sz="3214">
              <a:solidFill>
                <a:srgbClr val="2C5C56"/>
              </a:solidFill>
              <a:latin typeface="Muli Extra-Light"/>
              <a:ea typeface="Muli Extra-Light"/>
              <a:cs typeface="Muli Extra-Light"/>
              <a:sym typeface="Muli Extra-Light"/>
            </a:endParaRPr>
          </a:p>
        </p:txBody>
      </p:sp>
      <p:sp>
        <p:nvSpPr>
          <p:cNvPr id="8" name="TextBox 8"/>
          <p:cNvSpPr txBox="1"/>
          <p:nvPr/>
        </p:nvSpPr>
        <p:spPr>
          <a:xfrm>
            <a:off x="1191858" y="7349549"/>
            <a:ext cx="16399274" cy="1245667"/>
          </a:xfrm>
          <a:prstGeom prst="rect">
            <a:avLst/>
          </a:prstGeom>
        </p:spPr>
        <p:txBody>
          <a:bodyPr lIns="0" tIns="0" rIns="0" bIns="0" rtlCol="0" anchor="t">
            <a:spAutoFit/>
          </a:bodyPr>
          <a:lstStyle/>
          <a:p>
            <a:pPr marL="693984" lvl="1" indent="-346992" algn="just">
              <a:lnSpc>
                <a:spcPts val="5143"/>
              </a:lnSpc>
              <a:buFont typeface="Arial"/>
              <a:buChar char="•"/>
            </a:pPr>
            <a:r>
              <a:rPr lang="en-US" sz="3214">
                <a:solidFill>
                  <a:srgbClr val="2C5C56"/>
                </a:solidFill>
                <a:latin typeface="Muli Extra-Light"/>
                <a:ea typeface="Muli Extra-Light"/>
                <a:cs typeface="Muli Extra-Light"/>
                <a:sym typeface="Muli Extra-Light"/>
              </a:rPr>
              <a:t>Siêu khung (Superframe): Gồm 51 đa-khung 26 (hoặc 26 đa-khung 51).</a:t>
            </a:r>
          </a:p>
          <a:p>
            <a:pPr algn="just">
              <a:lnSpc>
                <a:spcPts val="5143"/>
              </a:lnSpc>
            </a:pPr>
            <a:endParaRPr lang="en-US" sz="3214">
              <a:solidFill>
                <a:srgbClr val="2C5C56"/>
              </a:solidFill>
              <a:latin typeface="Muli Extra-Light"/>
              <a:ea typeface="Muli Extra-Light"/>
              <a:cs typeface="Muli Extra-Light"/>
              <a:sym typeface="Muli Extra-Light"/>
            </a:endParaRPr>
          </a:p>
        </p:txBody>
      </p:sp>
      <p:sp>
        <p:nvSpPr>
          <p:cNvPr id="9" name="TextBox 9"/>
          <p:cNvSpPr txBox="1"/>
          <p:nvPr/>
        </p:nvSpPr>
        <p:spPr>
          <a:xfrm>
            <a:off x="1191858" y="8394004"/>
            <a:ext cx="16399274" cy="1892996"/>
          </a:xfrm>
          <a:prstGeom prst="rect">
            <a:avLst/>
          </a:prstGeom>
        </p:spPr>
        <p:txBody>
          <a:bodyPr lIns="0" tIns="0" rIns="0" bIns="0" rtlCol="0" anchor="t">
            <a:spAutoFit/>
          </a:bodyPr>
          <a:lstStyle/>
          <a:p>
            <a:pPr marL="693984" lvl="1" indent="-346992" algn="just">
              <a:lnSpc>
                <a:spcPts val="5143"/>
              </a:lnSpc>
              <a:buFont typeface="Arial"/>
              <a:buChar char="•"/>
            </a:pPr>
            <a:r>
              <a:rPr lang="en-US" sz="3214">
                <a:solidFill>
                  <a:srgbClr val="2C5C56"/>
                </a:solidFill>
                <a:latin typeface="Muli Extra-Light"/>
                <a:ea typeface="Muli Extra-Light"/>
                <a:cs typeface="Muli Extra-Light"/>
                <a:sym typeface="Muli Extra-Light"/>
              </a:rPr>
              <a:t>Đại siêu khung (Hyperframe): Gồm 2048 siêu khung. Là chu kỳ dài nhất (~3.5 giờ) để đồng bộ mã hóa.</a:t>
            </a:r>
          </a:p>
          <a:p>
            <a:pPr algn="just">
              <a:lnSpc>
                <a:spcPts val="5143"/>
              </a:lnSpc>
            </a:pPr>
            <a:endParaRPr lang="en-US" sz="3214">
              <a:solidFill>
                <a:srgbClr val="2C5C56"/>
              </a:solidFill>
              <a:latin typeface="Muli Extra-Light"/>
              <a:ea typeface="Muli Extra-Light"/>
              <a:cs typeface="Muli Extra-Light"/>
              <a:sym typeface="Muli Extra-Light"/>
            </a:endParaRPr>
          </a:p>
        </p:txBody>
      </p:sp>
      <p:sp>
        <p:nvSpPr>
          <p:cNvPr id="10" name="TextBox 10"/>
          <p:cNvSpPr txBox="1"/>
          <p:nvPr/>
        </p:nvSpPr>
        <p:spPr>
          <a:xfrm>
            <a:off x="1191858" y="5253011"/>
            <a:ext cx="16399274" cy="2540325"/>
          </a:xfrm>
          <a:prstGeom prst="rect">
            <a:avLst/>
          </a:prstGeom>
        </p:spPr>
        <p:txBody>
          <a:bodyPr lIns="0" tIns="0" rIns="0" bIns="0" rtlCol="0" anchor="t">
            <a:spAutoFit/>
          </a:bodyPr>
          <a:lstStyle/>
          <a:p>
            <a:pPr marL="693984" lvl="1" indent="-346992" algn="just">
              <a:lnSpc>
                <a:spcPts val="5143"/>
              </a:lnSpc>
              <a:buFont typeface="Arial"/>
              <a:buChar char="•"/>
            </a:pPr>
            <a:r>
              <a:rPr lang="en-US" sz="3214">
                <a:solidFill>
                  <a:srgbClr val="2C5C56"/>
                </a:solidFill>
                <a:latin typeface="Muli Extra-Light"/>
                <a:ea typeface="Muli Extra-Light"/>
                <a:cs typeface="Muli Extra-Light"/>
                <a:sym typeface="Muli Extra-Light"/>
              </a:rPr>
              <a:t>Đa khung (Multiframe): Loại 26-khung: Dùng chủ yếu cho Kênh Lưu lượng (TCH) và các kênh điều khiển đi kèm (SACCH/FACCH). Loại 51-khung: Dùng chủ yếu cho các Kênh Điều khiển chung (CCH).</a:t>
            </a:r>
          </a:p>
          <a:p>
            <a:pPr algn="just">
              <a:lnSpc>
                <a:spcPts val="5143"/>
              </a:lnSpc>
            </a:pPr>
            <a:endParaRPr lang="en-US" sz="3214">
              <a:solidFill>
                <a:srgbClr val="2C5C56"/>
              </a:solidFill>
              <a:latin typeface="Muli Extra-Light"/>
              <a:ea typeface="Muli Extra-Light"/>
              <a:cs typeface="Muli Extra-Light"/>
              <a:sym typeface="Muli Extra-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2351701" y="4612149"/>
            <a:ext cx="6229425" cy="6195447"/>
          </a:xfrm>
          <a:custGeom>
            <a:avLst/>
            <a:gdLst/>
            <a:ahLst/>
            <a:cxnLst/>
            <a:rect l="l" t="t" r="r" b="b"/>
            <a:pathLst>
              <a:path w="6229425" h="6195447">
                <a:moveTo>
                  <a:pt x="0" y="0"/>
                </a:moveTo>
                <a:lnTo>
                  <a:pt x="6229425" y="0"/>
                </a:lnTo>
                <a:lnTo>
                  <a:pt x="6229425" y="6195446"/>
                </a:lnTo>
                <a:lnTo>
                  <a:pt x="0" y="6195446"/>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763796" y="495300"/>
            <a:ext cx="14744420"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3: Phân loại kênh điều khiển (CCH)</a:t>
            </a:r>
          </a:p>
        </p:txBody>
      </p:sp>
      <p:grpSp>
        <p:nvGrpSpPr>
          <p:cNvPr id="4" name="Group 4"/>
          <p:cNvGrpSpPr/>
          <p:nvPr/>
        </p:nvGrpSpPr>
        <p:grpSpPr>
          <a:xfrm>
            <a:off x="609269" y="2652616"/>
            <a:ext cx="5293629" cy="5624759"/>
            <a:chOff x="0" y="0"/>
            <a:chExt cx="1394207" cy="1481418"/>
          </a:xfrm>
        </p:grpSpPr>
        <p:sp>
          <p:nvSpPr>
            <p:cNvPr id="5" name="Freeform 5"/>
            <p:cNvSpPr/>
            <p:nvPr/>
          </p:nvSpPr>
          <p:spPr>
            <a:xfrm>
              <a:off x="0" y="0"/>
              <a:ext cx="1394207" cy="1481418"/>
            </a:xfrm>
            <a:custGeom>
              <a:avLst/>
              <a:gdLst/>
              <a:ahLst/>
              <a:cxnLst/>
              <a:rect l="l" t="t" r="r" b="b"/>
              <a:pathLst>
                <a:path w="1394207" h="1481418">
                  <a:moveTo>
                    <a:pt x="24862" y="0"/>
                  </a:moveTo>
                  <a:lnTo>
                    <a:pt x="1369344" y="0"/>
                  </a:lnTo>
                  <a:cubicBezTo>
                    <a:pt x="1383076" y="0"/>
                    <a:pt x="1394207" y="11131"/>
                    <a:pt x="1394207" y="24862"/>
                  </a:cubicBezTo>
                  <a:lnTo>
                    <a:pt x="1394207" y="1456555"/>
                  </a:lnTo>
                  <a:cubicBezTo>
                    <a:pt x="1394207" y="1463149"/>
                    <a:pt x="1391587" y="1469473"/>
                    <a:pt x="1386925" y="1474136"/>
                  </a:cubicBezTo>
                  <a:cubicBezTo>
                    <a:pt x="1382262" y="1478798"/>
                    <a:pt x="1375938" y="1481418"/>
                    <a:pt x="1369344" y="1481418"/>
                  </a:cubicBezTo>
                  <a:lnTo>
                    <a:pt x="24862" y="1481418"/>
                  </a:lnTo>
                  <a:cubicBezTo>
                    <a:pt x="11131" y="1481418"/>
                    <a:pt x="0" y="1470287"/>
                    <a:pt x="0" y="1456555"/>
                  </a:cubicBezTo>
                  <a:lnTo>
                    <a:pt x="0" y="24862"/>
                  </a:lnTo>
                  <a:cubicBezTo>
                    <a:pt x="0" y="18269"/>
                    <a:pt x="2619" y="11945"/>
                    <a:pt x="7282" y="7282"/>
                  </a:cubicBezTo>
                  <a:cubicBezTo>
                    <a:pt x="11945" y="2619"/>
                    <a:pt x="18269" y="0"/>
                    <a:pt x="24862" y="0"/>
                  </a:cubicBezTo>
                  <a:close/>
                </a:path>
              </a:pathLst>
            </a:custGeom>
            <a:solidFill>
              <a:srgbClr val="49958B"/>
            </a:solidFill>
          </p:spPr>
          <p:txBody>
            <a:bodyPr/>
            <a:lstStyle/>
            <a:p>
              <a:endParaRPr lang="en-US"/>
            </a:p>
          </p:txBody>
        </p:sp>
        <p:sp>
          <p:nvSpPr>
            <p:cNvPr id="6" name="TextBox 6"/>
            <p:cNvSpPr txBox="1"/>
            <p:nvPr/>
          </p:nvSpPr>
          <p:spPr>
            <a:xfrm>
              <a:off x="0" y="-38100"/>
              <a:ext cx="1394207" cy="1519518"/>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6581953" y="2652616"/>
            <a:ext cx="5293629" cy="5624759"/>
            <a:chOff x="0" y="0"/>
            <a:chExt cx="1394207" cy="1481418"/>
          </a:xfrm>
        </p:grpSpPr>
        <p:sp>
          <p:nvSpPr>
            <p:cNvPr id="8" name="Freeform 8"/>
            <p:cNvSpPr/>
            <p:nvPr/>
          </p:nvSpPr>
          <p:spPr>
            <a:xfrm>
              <a:off x="0" y="0"/>
              <a:ext cx="1394207" cy="1481418"/>
            </a:xfrm>
            <a:custGeom>
              <a:avLst/>
              <a:gdLst/>
              <a:ahLst/>
              <a:cxnLst/>
              <a:rect l="l" t="t" r="r" b="b"/>
              <a:pathLst>
                <a:path w="1394207" h="1481418">
                  <a:moveTo>
                    <a:pt x="24862" y="0"/>
                  </a:moveTo>
                  <a:lnTo>
                    <a:pt x="1369344" y="0"/>
                  </a:lnTo>
                  <a:cubicBezTo>
                    <a:pt x="1383076" y="0"/>
                    <a:pt x="1394207" y="11131"/>
                    <a:pt x="1394207" y="24862"/>
                  </a:cubicBezTo>
                  <a:lnTo>
                    <a:pt x="1394207" y="1456555"/>
                  </a:lnTo>
                  <a:cubicBezTo>
                    <a:pt x="1394207" y="1463149"/>
                    <a:pt x="1391587" y="1469473"/>
                    <a:pt x="1386925" y="1474136"/>
                  </a:cubicBezTo>
                  <a:cubicBezTo>
                    <a:pt x="1382262" y="1478798"/>
                    <a:pt x="1375938" y="1481418"/>
                    <a:pt x="1369344" y="1481418"/>
                  </a:cubicBezTo>
                  <a:lnTo>
                    <a:pt x="24862" y="1481418"/>
                  </a:lnTo>
                  <a:cubicBezTo>
                    <a:pt x="11131" y="1481418"/>
                    <a:pt x="0" y="1470287"/>
                    <a:pt x="0" y="1456555"/>
                  </a:cubicBezTo>
                  <a:lnTo>
                    <a:pt x="0" y="24862"/>
                  </a:lnTo>
                  <a:cubicBezTo>
                    <a:pt x="0" y="18269"/>
                    <a:pt x="2619" y="11945"/>
                    <a:pt x="7282" y="7282"/>
                  </a:cubicBezTo>
                  <a:cubicBezTo>
                    <a:pt x="11945" y="2619"/>
                    <a:pt x="18269" y="0"/>
                    <a:pt x="24862" y="0"/>
                  </a:cubicBezTo>
                  <a:close/>
                </a:path>
              </a:pathLst>
            </a:custGeom>
            <a:solidFill>
              <a:srgbClr val="49958B"/>
            </a:solidFill>
          </p:spPr>
          <p:txBody>
            <a:bodyPr/>
            <a:lstStyle/>
            <a:p>
              <a:endParaRPr lang="en-US"/>
            </a:p>
          </p:txBody>
        </p:sp>
        <p:sp>
          <p:nvSpPr>
            <p:cNvPr id="9" name="TextBox 9"/>
            <p:cNvSpPr txBox="1"/>
            <p:nvPr/>
          </p:nvSpPr>
          <p:spPr>
            <a:xfrm>
              <a:off x="0" y="-38100"/>
              <a:ext cx="1394207" cy="1519518"/>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12551858" y="2652616"/>
            <a:ext cx="5293629" cy="5624759"/>
            <a:chOff x="0" y="0"/>
            <a:chExt cx="1394207" cy="1481418"/>
          </a:xfrm>
        </p:grpSpPr>
        <p:sp>
          <p:nvSpPr>
            <p:cNvPr id="11" name="Freeform 11"/>
            <p:cNvSpPr/>
            <p:nvPr/>
          </p:nvSpPr>
          <p:spPr>
            <a:xfrm>
              <a:off x="0" y="0"/>
              <a:ext cx="1394207" cy="1481418"/>
            </a:xfrm>
            <a:custGeom>
              <a:avLst/>
              <a:gdLst/>
              <a:ahLst/>
              <a:cxnLst/>
              <a:rect l="l" t="t" r="r" b="b"/>
              <a:pathLst>
                <a:path w="1394207" h="1481418">
                  <a:moveTo>
                    <a:pt x="24862" y="0"/>
                  </a:moveTo>
                  <a:lnTo>
                    <a:pt x="1369344" y="0"/>
                  </a:lnTo>
                  <a:cubicBezTo>
                    <a:pt x="1383076" y="0"/>
                    <a:pt x="1394207" y="11131"/>
                    <a:pt x="1394207" y="24862"/>
                  </a:cubicBezTo>
                  <a:lnTo>
                    <a:pt x="1394207" y="1456555"/>
                  </a:lnTo>
                  <a:cubicBezTo>
                    <a:pt x="1394207" y="1463149"/>
                    <a:pt x="1391587" y="1469473"/>
                    <a:pt x="1386925" y="1474136"/>
                  </a:cubicBezTo>
                  <a:cubicBezTo>
                    <a:pt x="1382262" y="1478798"/>
                    <a:pt x="1375938" y="1481418"/>
                    <a:pt x="1369344" y="1481418"/>
                  </a:cubicBezTo>
                  <a:lnTo>
                    <a:pt x="24862" y="1481418"/>
                  </a:lnTo>
                  <a:cubicBezTo>
                    <a:pt x="11131" y="1481418"/>
                    <a:pt x="0" y="1470287"/>
                    <a:pt x="0" y="1456555"/>
                  </a:cubicBezTo>
                  <a:lnTo>
                    <a:pt x="0" y="24862"/>
                  </a:lnTo>
                  <a:cubicBezTo>
                    <a:pt x="0" y="18269"/>
                    <a:pt x="2619" y="11945"/>
                    <a:pt x="7282" y="7282"/>
                  </a:cubicBezTo>
                  <a:cubicBezTo>
                    <a:pt x="11945" y="2619"/>
                    <a:pt x="18269" y="0"/>
                    <a:pt x="24862" y="0"/>
                  </a:cubicBezTo>
                  <a:close/>
                </a:path>
              </a:pathLst>
            </a:custGeom>
            <a:solidFill>
              <a:srgbClr val="49958B"/>
            </a:solidFill>
          </p:spPr>
          <p:txBody>
            <a:bodyPr/>
            <a:lstStyle/>
            <a:p>
              <a:endParaRPr lang="en-US"/>
            </a:p>
          </p:txBody>
        </p:sp>
        <p:sp>
          <p:nvSpPr>
            <p:cNvPr id="12" name="TextBox 12"/>
            <p:cNvSpPr txBox="1"/>
            <p:nvPr/>
          </p:nvSpPr>
          <p:spPr>
            <a:xfrm>
              <a:off x="0" y="-38100"/>
              <a:ext cx="1394207" cy="1519518"/>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rot="2700000">
            <a:off x="14353955" y="-967992"/>
            <a:ext cx="5801638" cy="5769992"/>
          </a:xfrm>
          <a:custGeom>
            <a:avLst/>
            <a:gdLst/>
            <a:ahLst/>
            <a:cxnLst/>
            <a:rect l="l" t="t" r="r" b="b"/>
            <a:pathLst>
              <a:path w="5801638" h="5769992">
                <a:moveTo>
                  <a:pt x="0" y="0"/>
                </a:moveTo>
                <a:lnTo>
                  <a:pt x="5801638" y="0"/>
                </a:lnTo>
                <a:lnTo>
                  <a:pt x="5801638" y="5769992"/>
                </a:lnTo>
                <a:lnTo>
                  <a:pt x="0" y="5769992"/>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TextBox 14"/>
          <p:cNvSpPr txBox="1"/>
          <p:nvPr/>
        </p:nvSpPr>
        <p:spPr>
          <a:xfrm>
            <a:off x="1242160" y="2884247"/>
            <a:ext cx="4360845" cy="5438268"/>
          </a:xfrm>
          <a:prstGeom prst="rect">
            <a:avLst/>
          </a:prstGeom>
        </p:spPr>
        <p:txBody>
          <a:bodyPr lIns="0" tIns="0" rIns="0" bIns="0" rtlCol="0" anchor="t">
            <a:spAutoFit/>
          </a:bodyPr>
          <a:lstStyle/>
          <a:p>
            <a:pPr algn="ctr">
              <a:lnSpc>
                <a:spcPts val="5415"/>
              </a:lnSpc>
            </a:pPr>
            <a:r>
              <a:rPr lang="en-US" sz="3384" b="1">
                <a:solidFill>
                  <a:srgbClr val="FFFFFF"/>
                </a:solidFill>
                <a:latin typeface="Muli Bold"/>
                <a:ea typeface="Muli Bold"/>
                <a:cs typeface="Muli Bold"/>
                <a:sym typeface="Muli Bold"/>
              </a:rPr>
              <a:t>BCH (Broadcast)</a:t>
            </a:r>
          </a:p>
          <a:p>
            <a:pPr algn="ctr">
              <a:lnSpc>
                <a:spcPts val="5415"/>
              </a:lnSpc>
            </a:pPr>
            <a:r>
              <a:rPr lang="en-US" sz="3384">
                <a:solidFill>
                  <a:srgbClr val="FFFFFF"/>
                </a:solidFill>
                <a:latin typeface="Muli"/>
                <a:ea typeface="Muli"/>
                <a:cs typeface="Muli"/>
                <a:sym typeface="Muli"/>
              </a:rPr>
              <a:t>Kênh Quảng bá</a:t>
            </a:r>
          </a:p>
          <a:p>
            <a:pPr algn="ctr">
              <a:lnSpc>
                <a:spcPts val="5415"/>
              </a:lnSpc>
            </a:pPr>
            <a:r>
              <a:rPr lang="en-US" sz="3384">
                <a:solidFill>
                  <a:srgbClr val="FFFFFF"/>
                </a:solidFill>
                <a:latin typeface="Muli"/>
                <a:ea typeface="Muli"/>
                <a:cs typeface="Muli"/>
                <a:sym typeface="Muli"/>
              </a:rPr>
              <a:t>Phát thông tin chung của cell cho tất cả MS. Chỉ có đường xuống (Downlink).</a:t>
            </a:r>
          </a:p>
          <a:p>
            <a:pPr algn="l">
              <a:lnSpc>
                <a:spcPts val="5415"/>
              </a:lnSpc>
            </a:pPr>
            <a:endParaRPr lang="en-US" sz="3384">
              <a:solidFill>
                <a:srgbClr val="FFFFFF"/>
              </a:solidFill>
              <a:latin typeface="Muli"/>
              <a:ea typeface="Muli"/>
              <a:cs typeface="Muli"/>
              <a:sym typeface="Muli"/>
            </a:endParaRPr>
          </a:p>
          <a:p>
            <a:pPr algn="l">
              <a:lnSpc>
                <a:spcPts val="5415"/>
              </a:lnSpc>
            </a:pPr>
            <a:endParaRPr lang="en-US" sz="3384">
              <a:solidFill>
                <a:srgbClr val="FFFFFF"/>
              </a:solidFill>
              <a:latin typeface="Muli"/>
              <a:ea typeface="Muli"/>
              <a:cs typeface="Muli"/>
              <a:sym typeface="Muli"/>
            </a:endParaRPr>
          </a:p>
        </p:txBody>
      </p:sp>
      <p:sp>
        <p:nvSpPr>
          <p:cNvPr id="15" name="TextBox 15"/>
          <p:cNvSpPr txBox="1"/>
          <p:nvPr/>
        </p:nvSpPr>
        <p:spPr>
          <a:xfrm>
            <a:off x="7202872" y="2884247"/>
            <a:ext cx="4360845" cy="6124068"/>
          </a:xfrm>
          <a:prstGeom prst="rect">
            <a:avLst/>
          </a:prstGeom>
        </p:spPr>
        <p:txBody>
          <a:bodyPr lIns="0" tIns="0" rIns="0" bIns="0" rtlCol="0" anchor="t">
            <a:spAutoFit/>
          </a:bodyPr>
          <a:lstStyle/>
          <a:p>
            <a:pPr algn="ctr">
              <a:lnSpc>
                <a:spcPts val="5415"/>
              </a:lnSpc>
            </a:pPr>
            <a:r>
              <a:rPr lang="en-US" sz="3384" b="1">
                <a:solidFill>
                  <a:srgbClr val="FFFFFF"/>
                </a:solidFill>
                <a:latin typeface="Muli Bold"/>
                <a:ea typeface="Muli Bold"/>
                <a:cs typeface="Muli Bold"/>
                <a:sym typeface="Muli Bold"/>
              </a:rPr>
              <a:t>CCCH (Common)</a:t>
            </a:r>
          </a:p>
          <a:p>
            <a:pPr algn="ctr">
              <a:lnSpc>
                <a:spcPts val="5415"/>
              </a:lnSpc>
            </a:pPr>
            <a:r>
              <a:rPr lang="en-US" sz="3384">
                <a:solidFill>
                  <a:srgbClr val="FFFFFF"/>
                </a:solidFill>
                <a:latin typeface="Muli"/>
                <a:ea typeface="Muli"/>
                <a:cs typeface="Muli"/>
                <a:sym typeface="Muli"/>
              </a:rPr>
              <a:t>Kênh Điều khiển Chung</a:t>
            </a:r>
          </a:p>
          <a:p>
            <a:pPr algn="ctr">
              <a:lnSpc>
                <a:spcPts val="5415"/>
              </a:lnSpc>
            </a:pPr>
            <a:r>
              <a:rPr lang="en-US" sz="3384">
                <a:solidFill>
                  <a:srgbClr val="FFFFFF"/>
                </a:solidFill>
                <a:latin typeface="Muli"/>
                <a:ea typeface="Muli"/>
                <a:cs typeface="Muli"/>
                <a:sym typeface="Muli"/>
              </a:rPr>
              <a:t>Dùng cho truy nhập ban đầu và tìm gọi. Được chia sẻ chung cho nhiều MS.</a:t>
            </a:r>
          </a:p>
          <a:p>
            <a:pPr algn="l">
              <a:lnSpc>
                <a:spcPts val="5415"/>
              </a:lnSpc>
            </a:pPr>
            <a:endParaRPr lang="en-US" sz="3384">
              <a:solidFill>
                <a:srgbClr val="FFFFFF"/>
              </a:solidFill>
              <a:latin typeface="Muli"/>
              <a:ea typeface="Muli"/>
              <a:cs typeface="Muli"/>
              <a:sym typeface="Muli"/>
            </a:endParaRPr>
          </a:p>
          <a:p>
            <a:pPr algn="l">
              <a:lnSpc>
                <a:spcPts val="5415"/>
              </a:lnSpc>
            </a:pPr>
            <a:endParaRPr lang="en-US" sz="3384">
              <a:solidFill>
                <a:srgbClr val="FFFFFF"/>
              </a:solidFill>
              <a:latin typeface="Muli"/>
              <a:ea typeface="Muli"/>
              <a:cs typeface="Muli"/>
              <a:sym typeface="Muli"/>
            </a:endParaRPr>
          </a:p>
        </p:txBody>
      </p:sp>
      <p:sp>
        <p:nvSpPr>
          <p:cNvPr id="16" name="TextBox 16"/>
          <p:cNvSpPr txBox="1"/>
          <p:nvPr/>
        </p:nvSpPr>
        <p:spPr>
          <a:xfrm>
            <a:off x="13163585" y="2884247"/>
            <a:ext cx="4360845" cy="5438268"/>
          </a:xfrm>
          <a:prstGeom prst="rect">
            <a:avLst/>
          </a:prstGeom>
        </p:spPr>
        <p:txBody>
          <a:bodyPr lIns="0" tIns="0" rIns="0" bIns="0" rtlCol="0" anchor="t">
            <a:spAutoFit/>
          </a:bodyPr>
          <a:lstStyle/>
          <a:p>
            <a:pPr algn="ctr">
              <a:lnSpc>
                <a:spcPts val="5415"/>
              </a:lnSpc>
            </a:pPr>
            <a:r>
              <a:rPr lang="en-US" sz="3384" b="1">
                <a:solidFill>
                  <a:srgbClr val="FFFFFF"/>
                </a:solidFill>
                <a:latin typeface="Muli Bold"/>
                <a:ea typeface="Muli Bold"/>
                <a:cs typeface="Muli Bold"/>
                <a:sym typeface="Muli Bold"/>
              </a:rPr>
              <a:t>DCCH (Dedicated)</a:t>
            </a:r>
          </a:p>
          <a:p>
            <a:pPr algn="ctr">
              <a:lnSpc>
                <a:spcPts val="5415"/>
              </a:lnSpc>
            </a:pPr>
            <a:r>
              <a:rPr lang="en-US" sz="3384">
                <a:solidFill>
                  <a:srgbClr val="FFFFFF"/>
                </a:solidFill>
                <a:latin typeface="Muli"/>
                <a:ea typeface="Muli"/>
                <a:cs typeface="Muli"/>
                <a:sym typeface="Muli"/>
              </a:rPr>
              <a:t>Kênh Điều khiển Chuyên dụng</a:t>
            </a:r>
          </a:p>
          <a:p>
            <a:pPr algn="ctr">
              <a:lnSpc>
                <a:spcPts val="5415"/>
              </a:lnSpc>
            </a:pPr>
            <a:r>
              <a:rPr lang="en-US" sz="3384">
                <a:solidFill>
                  <a:srgbClr val="FFFFFF"/>
                </a:solidFill>
                <a:latin typeface="Muli"/>
                <a:ea typeface="Muli"/>
                <a:cs typeface="Muli"/>
                <a:sym typeface="Muli"/>
              </a:rPr>
              <a:t>Được gán riêng cho một MS để quản lý cuộc gọi hoặc SMS.</a:t>
            </a:r>
          </a:p>
          <a:p>
            <a:pPr algn="l">
              <a:lnSpc>
                <a:spcPts val="5415"/>
              </a:lnSpc>
            </a:pPr>
            <a:endParaRPr lang="en-US" sz="3384">
              <a:solidFill>
                <a:srgbClr val="FFFFFF"/>
              </a:solidFill>
              <a:latin typeface="Muli"/>
              <a:ea typeface="Muli"/>
              <a:cs typeface="Muli"/>
              <a:sym typeface="Muli"/>
            </a:endParaRPr>
          </a:p>
          <a:p>
            <a:pPr algn="l">
              <a:lnSpc>
                <a:spcPts val="5415"/>
              </a:lnSpc>
            </a:pPr>
            <a:endParaRPr lang="en-US" sz="3384">
              <a:solidFill>
                <a:srgbClr val="FFFFFF"/>
              </a:solidFill>
              <a:latin typeface="Muli"/>
              <a:ea typeface="Muli"/>
              <a:cs typeface="Muli"/>
              <a:sym typeface="Mul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2752658" y="4793432"/>
            <a:ext cx="5505317" cy="5475288"/>
          </a:xfrm>
          <a:custGeom>
            <a:avLst/>
            <a:gdLst/>
            <a:ahLst/>
            <a:cxnLst/>
            <a:rect l="l" t="t" r="r" b="b"/>
            <a:pathLst>
              <a:path w="5505317" h="5475288">
                <a:moveTo>
                  <a:pt x="0" y="0"/>
                </a:moveTo>
                <a:lnTo>
                  <a:pt x="5505316" y="0"/>
                </a:lnTo>
                <a:lnTo>
                  <a:pt x="5505316" y="5475288"/>
                </a:lnTo>
                <a:lnTo>
                  <a:pt x="0" y="5475288"/>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611560" y="379611"/>
            <a:ext cx="14744420"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3: Phân loại kênh điều khiển (CCH)</a:t>
            </a:r>
          </a:p>
        </p:txBody>
      </p:sp>
      <p:sp>
        <p:nvSpPr>
          <p:cNvPr id="4" name="TextBox 4"/>
          <p:cNvSpPr txBox="1"/>
          <p:nvPr/>
        </p:nvSpPr>
        <p:spPr>
          <a:xfrm>
            <a:off x="611560" y="1576962"/>
            <a:ext cx="15331631" cy="962662"/>
          </a:xfrm>
          <a:prstGeom prst="rect">
            <a:avLst/>
          </a:prstGeom>
        </p:spPr>
        <p:txBody>
          <a:bodyPr lIns="0" tIns="0" rIns="0" bIns="0" rtlCol="0" anchor="t">
            <a:spAutoFit/>
          </a:bodyPr>
          <a:lstStyle/>
          <a:p>
            <a:pPr algn="ctr">
              <a:lnSpc>
                <a:spcPts val="7839"/>
              </a:lnSpc>
            </a:pPr>
            <a:r>
              <a:rPr lang="en-US" sz="5599" b="1">
                <a:solidFill>
                  <a:srgbClr val="2C5C56"/>
                </a:solidFill>
                <a:latin typeface="Muli Bold"/>
                <a:ea typeface="Muli Bold"/>
                <a:cs typeface="Muli Bold"/>
                <a:sym typeface="Muli Bold"/>
              </a:rPr>
              <a:t>Nhóm kênh điều khiển quảng bá (BCH)</a:t>
            </a:r>
          </a:p>
        </p:txBody>
      </p:sp>
      <p:sp>
        <p:nvSpPr>
          <p:cNvPr id="5" name="TextBox 5"/>
          <p:cNvSpPr txBox="1"/>
          <p:nvPr/>
        </p:nvSpPr>
        <p:spPr>
          <a:xfrm>
            <a:off x="1888726" y="2837914"/>
            <a:ext cx="15370574" cy="1894110"/>
          </a:xfrm>
          <a:prstGeom prst="rect">
            <a:avLst/>
          </a:prstGeom>
        </p:spPr>
        <p:txBody>
          <a:bodyPr lIns="0" tIns="0" rIns="0" bIns="0" rtlCol="0" anchor="t">
            <a:spAutoFit/>
          </a:bodyPr>
          <a:lstStyle/>
          <a:p>
            <a:pPr marL="693983" lvl="1" indent="-346992" algn="just">
              <a:lnSpc>
                <a:spcPts val="5142"/>
              </a:lnSpc>
              <a:buFont typeface="Arial"/>
              <a:buChar char="•"/>
            </a:pPr>
            <a:r>
              <a:rPr lang="en-US" sz="3214" b="1">
                <a:solidFill>
                  <a:srgbClr val="2C5C56"/>
                </a:solidFill>
                <a:latin typeface="Muli Bold"/>
                <a:ea typeface="Muli Bold"/>
                <a:cs typeface="Muli Bold"/>
                <a:sym typeface="Muli Bold"/>
              </a:rPr>
              <a:t>FCCH (Frequency Correction Channel):</a:t>
            </a:r>
            <a:r>
              <a:rPr lang="en-US" sz="3214">
                <a:solidFill>
                  <a:srgbClr val="2C5C56"/>
                </a:solidFill>
                <a:latin typeface="Muli Extra-Light"/>
                <a:ea typeface="Muli Extra-Light"/>
                <a:cs typeface="Muli Extra-Light"/>
                <a:sym typeface="Muli Extra-Light"/>
              </a:rPr>
              <a:t> Truyền tín hiệu giúp MS hiệu chỉnh tần số dao động trùng với BTS. FCCH phát chuỗi bit ‘0’ để MS đồng bộ tần số sóng mang.</a:t>
            </a:r>
          </a:p>
        </p:txBody>
      </p:sp>
      <p:sp>
        <p:nvSpPr>
          <p:cNvPr id="6" name="TextBox 6"/>
          <p:cNvSpPr txBox="1"/>
          <p:nvPr/>
        </p:nvSpPr>
        <p:spPr>
          <a:xfrm>
            <a:off x="1888726" y="5029200"/>
            <a:ext cx="15370574" cy="1246410"/>
          </a:xfrm>
          <a:prstGeom prst="rect">
            <a:avLst/>
          </a:prstGeom>
        </p:spPr>
        <p:txBody>
          <a:bodyPr lIns="0" tIns="0" rIns="0" bIns="0" rtlCol="0" anchor="t">
            <a:spAutoFit/>
          </a:bodyPr>
          <a:lstStyle/>
          <a:p>
            <a:pPr marL="693983" lvl="1" indent="-346992" algn="just">
              <a:lnSpc>
                <a:spcPts val="5142"/>
              </a:lnSpc>
              <a:buFont typeface="Arial"/>
              <a:buChar char="•"/>
            </a:pPr>
            <a:r>
              <a:rPr lang="en-US" sz="3214" b="1">
                <a:solidFill>
                  <a:srgbClr val="2C5C56"/>
                </a:solidFill>
                <a:latin typeface="Muli Bold"/>
                <a:ea typeface="Muli Bold"/>
                <a:cs typeface="Muli Bold"/>
                <a:sym typeface="Muli Bold"/>
              </a:rPr>
              <a:t>SCH (Synchronization Channel):</a:t>
            </a:r>
            <a:r>
              <a:rPr lang="en-US" sz="3214">
                <a:solidFill>
                  <a:srgbClr val="2C5C56"/>
                </a:solidFill>
                <a:latin typeface="Muli Extra-Light"/>
                <a:ea typeface="Muli Extra-Light"/>
                <a:cs typeface="Muli Extra-Light"/>
                <a:sym typeface="Muli Extra-Light"/>
              </a:rPr>
              <a:t> Giúp MS đồng bộ khung TDMA và nhận dạng trạm BTS thông qua BSIC và RFN, đảm bảo phân biệt các trạm gần nhau.</a:t>
            </a:r>
          </a:p>
        </p:txBody>
      </p:sp>
      <p:sp>
        <p:nvSpPr>
          <p:cNvPr id="7" name="TextBox 7"/>
          <p:cNvSpPr txBox="1"/>
          <p:nvPr/>
        </p:nvSpPr>
        <p:spPr>
          <a:xfrm>
            <a:off x="1888726" y="6902269"/>
            <a:ext cx="15370574" cy="1894110"/>
          </a:xfrm>
          <a:prstGeom prst="rect">
            <a:avLst/>
          </a:prstGeom>
        </p:spPr>
        <p:txBody>
          <a:bodyPr lIns="0" tIns="0" rIns="0" bIns="0" rtlCol="0" anchor="t">
            <a:spAutoFit/>
          </a:bodyPr>
          <a:lstStyle/>
          <a:p>
            <a:pPr marL="693983" lvl="1" indent="-346992" algn="just">
              <a:lnSpc>
                <a:spcPts val="5142"/>
              </a:lnSpc>
              <a:buFont typeface="Arial"/>
              <a:buChar char="•"/>
            </a:pPr>
            <a:r>
              <a:rPr lang="en-US" sz="3214" b="1">
                <a:solidFill>
                  <a:srgbClr val="2C5C56"/>
                </a:solidFill>
                <a:latin typeface="Muli Bold"/>
                <a:ea typeface="Muli Bold"/>
                <a:cs typeface="Muli Bold"/>
                <a:sym typeface="Muli Bold"/>
              </a:rPr>
              <a:t>BCCH (Broadcast Control Channel):</a:t>
            </a:r>
            <a:r>
              <a:rPr lang="en-US" sz="3214">
                <a:solidFill>
                  <a:srgbClr val="2C5C56"/>
                </a:solidFill>
                <a:latin typeface="Muli Extra-Light"/>
                <a:ea typeface="Muli Extra-Light"/>
                <a:cs typeface="Muli Extra-Light"/>
                <a:sym typeface="Muli Extra-Light"/>
              </a:rPr>
              <a:t> Phát thông tin hệ thống chung như MCC, MNC, CI, danh sách cell lân cận, công suất phát và cấu hình dịch vụ, giúp MS chọn và “cắm sóng” vào cell phù hợp.</a:t>
            </a:r>
          </a:p>
        </p:txBody>
      </p:sp>
      <p:sp>
        <p:nvSpPr>
          <p:cNvPr id="8" name="Freeform 8"/>
          <p:cNvSpPr/>
          <p:nvPr/>
        </p:nvSpPr>
        <p:spPr>
          <a:xfrm rot="2700000">
            <a:off x="15258138" y="-1330975"/>
            <a:ext cx="4002324" cy="3980493"/>
          </a:xfrm>
          <a:custGeom>
            <a:avLst/>
            <a:gdLst/>
            <a:ahLst/>
            <a:cxnLst/>
            <a:rect l="l" t="t" r="r" b="b"/>
            <a:pathLst>
              <a:path w="4002324" h="3980493">
                <a:moveTo>
                  <a:pt x="0" y="0"/>
                </a:moveTo>
                <a:lnTo>
                  <a:pt x="4002324" y="0"/>
                </a:lnTo>
                <a:lnTo>
                  <a:pt x="4002324" y="3980493"/>
                </a:lnTo>
                <a:lnTo>
                  <a:pt x="0" y="398049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2752658" y="4793432"/>
            <a:ext cx="5505317" cy="5475288"/>
          </a:xfrm>
          <a:custGeom>
            <a:avLst/>
            <a:gdLst/>
            <a:ahLst/>
            <a:cxnLst/>
            <a:rect l="l" t="t" r="r" b="b"/>
            <a:pathLst>
              <a:path w="5505317" h="5475288">
                <a:moveTo>
                  <a:pt x="0" y="0"/>
                </a:moveTo>
                <a:lnTo>
                  <a:pt x="5505316" y="0"/>
                </a:lnTo>
                <a:lnTo>
                  <a:pt x="5505316" y="5475288"/>
                </a:lnTo>
                <a:lnTo>
                  <a:pt x="0" y="5475288"/>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611560" y="379611"/>
            <a:ext cx="14744420"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3: Phân loại kênh điều khiển (CCH)</a:t>
            </a:r>
          </a:p>
        </p:txBody>
      </p:sp>
      <p:sp>
        <p:nvSpPr>
          <p:cNvPr id="4" name="TextBox 4"/>
          <p:cNvSpPr txBox="1"/>
          <p:nvPr/>
        </p:nvSpPr>
        <p:spPr>
          <a:xfrm>
            <a:off x="611560" y="1576962"/>
            <a:ext cx="15331631" cy="962662"/>
          </a:xfrm>
          <a:prstGeom prst="rect">
            <a:avLst/>
          </a:prstGeom>
        </p:spPr>
        <p:txBody>
          <a:bodyPr lIns="0" tIns="0" rIns="0" bIns="0" rtlCol="0" anchor="t">
            <a:spAutoFit/>
          </a:bodyPr>
          <a:lstStyle/>
          <a:p>
            <a:pPr algn="ctr">
              <a:lnSpc>
                <a:spcPts val="7839"/>
              </a:lnSpc>
            </a:pPr>
            <a:r>
              <a:rPr lang="en-US" sz="5599" b="1">
                <a:solidFill>
                  <a:srgbClr val="2C5C56"/>
                </a:solidFill>
                <a:latin typeface="Muli Bold"/>
                <a:ea typeface="Muli Bold"/>
                <a:cs typeface="Muli Bold"/>
                <a:sym typeface="Muli Bold"/>
              </a:rPr>
              <a:t>Nhóm kênh điều khiển chung (CCCH)</a:t>
            </a:r>
          </a:p>
        </p:txBody>
      </p:sp>
      <p:sp>
        <p:nvSpPr>
          <p:cNvPr id="5" name="TextBox 5"/>
          <p:cNvSpPr txBox="1"/>
          <p:nvPr/>
        </p:nvSpPr>
        <p:spPr>
          <a:xfrm>
            <a:off x="1888726" y="2644641"/>
            <a:ext cx="15370574" cy="1894110"/>
          </a:xfrm>
          <a:prstGeom prst="rect">
            <a:avLst/>
          </a:prstGeom>
        </p:spPr>
        <p:txBody>
          <a:bodyPr lIns="0" tIns="0" rIns="0" bIns="0" rtlCol="0" anchor="t">
            <a:spAutoFit/>
          </a:bodyPr>
          <a:lstStyle/>
          <a:p>
            <a:pPr marL="693983" lvl="1" indent="-346992" algn="just">
              <a:lnSpc>
                <a:spcPts val="5142"/>
              </a:lnSpc>
              <a:buFont typeface="Arial"/>
              <a:buChar char="•"/>
            </a:pPr>
            <a:r>
              <a:rPr lang="en-US" sz="3214" b="1">
                <a:solidFill>
                  <a:srgbClr val="2C5C56"/>
                </a:solidFill>
                <a:latin typeface="Muli Bold"/>
                <a:ea typeface="Muli Bold"/>
                <a:cs typeface="Muli Bold"/>
                <a:sym typeface="Muli Bold"/>
              </a:rPr>
              <a:t>RACH (Random Access Channel): </a:t>
            </a:r>
            <a:r>
              <a:rPr lang="en-US" sz="3214">
                <a:solidFill>
                  <a:srgbClr val="2C5C56"/>
                </a:solidFill>
                <a:latin typeface="Muli"/>
                <a:ea typeface="Muli"/>
                <a:cs typeface="Muli"/>
                <a:sym typeface="Muli"/>
              </a:rPr>
              <a:t>Kênh uplink duy nhất trong CCCH, MS gửi yêu cầu cấp kênh lên mạng theo cơ chế slotted Aloha để xin kênh SDCCH hoặc TCH.</a:t>
            </a:r>
          </a:p>
        </p:txBody>
      </p:sp>
      <p:sp>
        <p:nvSpPr>
          <p:cNvPr id="6" name="TextBox 6"/>
          <p:cNvSpPr txBox="1"/>
          <p:nvPr/>
        </p:nvSpPr>
        <p:spPr>
          <a:xfrm>
            <a:off x="1888726" y="4643526"/>
            <a:ext cx="15370574" cy="1894110"/>
          </a:xfrm>
          <a:prstGeom prst="rect">
            <a:avLst/>
          </a:prstGeom>
        </p:spPr>
        <p:txBody>
          <a:bodyPr lIns="0" tIns="0" rIns="0" bIns="0" rtlCol="0" anchor="t">
            <a:spAutoFit/>
          </a:bodyPr>
          <a:lstStyle/>
          <a:p>
            <a:pPr marL="693983" lvl="1" indent="-346992" algn="just">
              <a:lnSpc>
                <a:spcPts val="5142"/>
              </a:lnSpc>
              <a:buFont typeface="Arial"/>
              <a:buChar char="•"/>
            </a:pPr>
            <a:r>
              <a:rPr lang="en-US" sz="3214" b="1">
                <a:solidFill>
                  <a:srgbClr val="2C5C56"/>
                </a:solidFill>
                <a:latin typeface="Muli Bold"/>
                <a:ea typeface="Muli Bold"/>
                <a:cs typeface="Muli Bold"/>
                <a:sym typeface="Muli Bold"/>
              </a:rPr>
              <a:t>AGCH (Access Grant Channel): </a:t>
            </a:r>
            <a:r>
              <a:rPr lang="en-US" sz="3214">
                <a:solidFill>
                  <a:srgbClr val="2C5C56"/>
                </a:solidFill>
                <a:latin typeface="Muli"/>
                <a:ea typeface="Muli"/>
                <a:cs typeface="Muli"/>
                <a:sym typeface="Muli"/>
              </a:rPr>
              <a:t>Kênh downlink, mạng phản hồi yêu cầu RACH bằng thông điệp Immediate/Channel Assignment, chỉ định kênh cho MS.</a:t>
            </a:r>
          </a:p>
        </p:txBody>
      </p:sp>
      <p:sp>
        <p:nvSpPr>
          <p:cNvPr id="7" name="TextBox 7"/>
          <p:cNvSpPr txBox="1"/>
          <p:nvPr/>
        </p:nvSpPr>
        <p:spPr>
          <a:xfrm>
            <a:off x="1888726" y="6772661"/>
            <a:ext cx="15370574" cy="1246410"/>
          </a:xfrm>
          <a:prstGeom prst="rect">
            <a:avLst/>
          </a:prstGeom>
        </p:spPr>
        <p:txBody>
          <a:bodyPr lIns="0" tIns="0" rIns="0" bIns="0" rtlCol="0" anchor="t">
            <a:spAutoFit/>
          </a:bodyPr>
          <a:lstStyle/>
          <a:p>
            <a:pPr marL="693983" lvl="1" indent="-346992" algn="just">
              <a:lnSpc>
                <a:spcPts val="5142"/>
              </a:lnSpc>
              <a:buFont typeface="Arial"/>
              <a:buChar char="•"/>
            </a:pPr>
            <a:r>
              <a:rPr lang="en-US" sz="3214" b="1">
                <a:solidFill>
                  <a:srgbClr val="2C5C56"/>
                </a:solidFill>
                <a:latin typeface="Muli Bold"/>
                <a:ea typeface="Muli Bold"/>
                <a:cs typeface="Muli Bold"/>
                <a:sym typeface="Muli Bold"/>
              </a:rPr>
              <a:t>PCH (Paging Channel): </a:t>
            </a:r>
            <a:r>
              <a:rPr lang="en-US" sz="3214">
                <a:solidFill>
                  <a:srgbClr val="2C5C56"/>
                </a:solidFill>
                <a:latin typeface="Muli"/>
                <a:ea typeface="Muli"/>
                <a:cs typeface="Muli"/>
                <a:sym typeface="Muli"/>
              </a:rPr>
              <a:t>Kênh downlink, mạng gọi trang MS khi có cuộc gọi/tin nhắn đến. MS định kỳ nghe PCH để nhận thông báo.</a:t>
            </a:r>
          </a:p>
        </p:txBody>
      </p:sp>
      <p:sp>
        <p:nvSpPr>
          <p:cNvPr id="8" name="Freeform 8"/>
          <p:cNvSpPr/>
          <p:nvPr/>
        </p:nvSpPr>
        <p:spPr>
          <a:xfrm rot="2700000">
            <a:off x="15258138" y="-1330975"/>
            <a:ext cx="4002324" cy="3980493"/>
          </a:xfrm>
          <a:custGeom>
            <a:avLst/>
            <a:gdLst/>
            <a:ahLst/>
            <a:cxnLst/>
            <a:rect l="l" t="t" r="r" b="b"/>
            <a:pathLst>
              <a:path w="4002324" h="3980493">
                <a:moveTo>
                  <a:pt x="0" y="0"/>
                </a:moveTo>
                <a:lnTo>
                  <a:pt x="4002324" y="0"/>
                </a:lnTo>
                <a:lnTo>
                  <a:pt x="4002324" y="3980493"/>
                </a:lnTo>
                <a:lnTo>
                  <a:pt x="0" y="398049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9"/>
          <p:cNvSpPr txBox="1"/>
          <p:nvPr/>
        </p:nvSpPr>
        <p:spPr>
          <a:xfrm>
            <a:off x="1888726" y="8254095"/>
            <a:ext cx="15370574" cy="1246410"/>
          </a:xfrm>
          <a:prstGeom prst="rect">
            <a:avLst/>
          </a:prstGeom>
        </p:spPr>
        <p:txBody>
          <a:bodyPr lIns="0" tIns="0" rIns="0" bIns="0" rtlCol="0" anchor="t">
            <a:spAutoFit/>
          </a:bodyPr>
          <a:lstStyle/>
          <a:p>
            <a:pPr marL="693983" lvl="1" indent="-346992" algn="just">
              <a:lnSpc>
                <a:spcPts val="5142"/>
              </a:lnSpc>
              <a:buFont typeface="Arial"/>
              <a:buChar char="•"/>
            </a:pPr>
            <a:r>
              <a:rPr lang="en-US" sz="3214" b="1">
                <a:solidFill>
                  <a:srgbClr val="2C5C56"/>
                </a:solidFill>
                <a:latin typeface="Muli Bold"/>
                <a:ea typeface="Muli Bold"/>
                <a:cs typeface="Muli Bold"/>
                <a:sym typeface="Muli Bold"/>
              </a:rPr>
              <a:t>NCH (Notification Channel): </a:t>
            </a:r>
            <a:r>
              <a:rPr lang="en-US" sz="3214">
                <a:solidFill>
                  <a:srgbClr val="2C5C56"/>
                </a:solidFill>
                <a:latin typeface="Muli"/>
                <a:ea typeface="Muli"/>
                <a:cs typeface="Muli"/>
                <a:sym typeface="Muli"/>
              </a:rPr>
              <a:t>Kênh downlink tùy chọn, thông báo cuộc gọi nhóm hoặc phát thanh hệ thống (VGCS/MBMS). </a:t>
            </a:r>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2443604" y="4793432"/>
            <a:ext cx="5505317" cy="5475288"/>
          </a:xfrm>
          <a:custGeom>
            <a:avLst/>
            <a:gdLst/>
            <a:ahLst/>
            <a:cxnLst/>
            <a:rect l="l" t="t" r="r" b="b"/>
            <a:pathLst>
              <a:path w="5505317" h="5475288">
                <a:moveTo>
                  <a:pt x="0" y="0"/>
                </a:moveTo>
                <a:lnTo>
                  <a:pt x="5505316" y="0"/>
                </a:lnTo>
                <a:lnTo>
                  <a:pt x="5505316" y="5475288"/>
                </a:lnTo>
                <a:lnTo>
                  <a:pt x="0" y="5475288"/>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611560" y="379611"/>
            <a:ext cx="14744420" cy="1066800"/>
          </a:xfrm>
          <a:prstGeom prst="rect">
            <a:avLst/>
          </a:prstGeom>
        </p:spPr>
        <p:txBody>
          <a:bodyPr lIns="0" tIns="0" rIns="0" bIns="0" rtlCol="0" anchor="t">
            <a:spAutoFit/>
          </a:bodyPr>
          <a:lstStyle/>
          <a:p>
            <a:pPr algn="l">
              <a:lnSpc>
                <a:spcPts val="8400"/>
              </a:lnSpc>
            </a:pPr>
            <a:r>
              <a:rPr lang="en-US" sz="7000">
                <a:solidFill>
                  <a:srgbClr val="FF7C64"/>
                </a:solidFill>
                <a:latin typeface="Oswald"/>
                <a:ea typeface="Oswald"/>
                <a:cs typeface="Oswald"/>
                <a:sym typeface="Oswald"/>
              </a:rPr>
              <a:t>Chương 3: Phân loại kênh điều khiển (CCH)</a:t>
            </a:r>
          </a:p>
        </p:txBody>
      </p:sp>
      <p:sp>
        <p:nvSpPr>
          <p:cNvPr id="4" name="TextBox 4"/>
          <p:cNvSpPr txBox="1"/>
          <p:nvPr/>
        </p:nvSpPr>
        <p:spPr>
          <a:xfrm>
            <a:off x="611560" y="1576962"/>
            <a:ext cx="15331631" cy="962662"/>
          </a:xfrm>
          <a:prstGeom prst="rect">
            <a:avLst/>
          </a:prstGeom>
        </p:spPr>
        <p:txBody>
          <a:bodyPr lIns="0" tIns="0" rIns="0" bIns="0" rtlCol="0" anchor="t">
            <a:spAutoFit/>
          </a:bodyPr>
          <a:lstStyle/>
          <a:p>
            <a:pPr algn="ctr">
              <a:lnSpc>
                <a:spcPts val="7839"/>
              </a:lnSpc>
            </a:pPr>
            <a:r>
              <a:rPr lang="en-US" sz="5599" b="1">
                <a:solidFill>
                  <a:srgbClr val="2C5C56"/>
                </a:solidFill>
                <a:latin typeface="Muli Bold"/>
                <a:ea typeface="Muli Bold"/>
                <a:cs typeface="Muli Bold"/>
                <a:sym typeface="Muli Bold"/>
              </a:rPr>
              <a:t>Nhóm kênh điều khiển chuyên dụng (DCCH)</a:t>
            </a:r>
          </a:p>
        </p:txBody>
      </p:sp>
      <p:sp>
        <p:nvSpPr>
          <p:cNvPr id="5" name="TextBox 5"/>
          <p:cNvSpPr txBox="1"/>
          <p:nvPr/>
        </p:nvSpPr>
        <p:spPr>
          <a:xfrm>
            <a:off x="1888726" y="2644641"/>
            <a:ext cx="15370574" cy="1894110"/>
          </a:xfrm>
          <a:prstGeom prst="rect">
            <a:avLst/>
          </a:prstGeom>
        </p:spPr>
        <p:txBody>
          <a:bodyPr lIns="0" tIns="0" rIns="0" bIns="0" rtlCol="0" anchor="t">
            <a:spAutoFit/>
          </a:bodyPr>
          <a:lstStyle/>
          <a:p>
            <a:pPr marL="693983" lvl="1" indent="-346992" algn="just">
              <a:lnSpc>
                <a:spcPts val="5142"/>
              </a:lnSpc>
              <a:buFont typeface="Arial"/>
              <a:buChar char="•"/>
            </a:pPr>
            <a:r>
              <a:rPr lang="en-US" sz="3214" b="1">
                <a:solidFill>
                  <a:srgbClr val="2C5C56"/>
                </a:solidFill>
                <a:latin typeface="Muli Bold"/>
                <a:ea typeface="Muli Bold"/>
                <a:cs typeface="Muli Bold"/>
                <a:sym typeface="Muli Bold"/>
              </a:rPr>
              <a:t>SDCCH (Standalone Dedicated Control Channel): </a:t>
            </a:r>
            <a:r>
              <a:rPr lang="en-US" sz="3214">
                <a:solidFill>
                  <a:srgbClr val="2C5C56"/>
                </a:solidFill>
                <a:latin typeface="Muli"/>
                <a:ea typeface="Muli"/>
                <a:cs typeface="Muli"/>
                <a:sym typeface="Muli"/>
              </a:rPr>
              <a:t>Kênh điều khiển hai chiều độc lập, dùng trước khi thiết lập cuộc gọi. Truyền đăng ký, xác thực, SMS, cập nhật vị trí giữa MS và mạng.</a:t>
            </a:r>
          </a:p>
        </p:txBody>
      </p:sp>
      <p:sp>
        <p:nvSpPr>
          <p:cNvPr id="6" name="TextBox 6"/>
          <p:cNvSpPr txBox="1"/>
          <p:nvPr/>
        </p:nvSpPr>
        <p:spPr>
          <a:xfrm>
            <a:off x="1888726" y="4643526"/>
            <a:ext cx="15370574" cy="1894110"/>
          </a:xfrm>
          <a:prstGeom prst="rect">
            <a:avLst/>
          </a:prstGeom>
        </p:spPr>
        <p:txBody>
          <a:bodyPr lIns="0" tIns="0" rIns="0" bIns="0" rtlCol="0" anchor="t">
            <a:spAutoFit/>
          </a:bodyPr>
          <a:lstStyle/>
          <a:p>
            <a:pPr marL="693983" lvl="1" indent="-346992" algn="just">
              <a:lnSpc>
                <a:spcPts val="5142"/>
              </a:lnSpc>
              <a:buFont typeface="Arial"/>
              <a:buChar char="•"/>
            </a:pPr>
            <a:r>
              <a:rPr lang="en-US" sz="3214" b="1">
                <a:solidFill>
                  <a:srgbClr val="2C5C56"/>
                </a:solidFill>
                <a:latin typeface="Muli Bold"/>
                <a:ea typeface="Muli Bold"/>
                <a:cs typeface="Muli Bold"/>
                <a:sym typeface="Muli Bold"/>
              </a:rPr>
              <a:t>SACCH (Slow Associated Control Channel): </a:t>
            </a:r>
            <a:r>
              <a:rPr lang="en-US" sz="3214">
                <a:solidFill>
                  <a:srgbClr val="2C5C56"/>
                </a:solidFill>
                <a:latin typeface="Muli"/>
                <a:ea typeface="Muli"/>
                <a:cs typeface="Muli"/>
                <a:sym typeface="Muli"/>
              </a:rPr>
              <a:t>Kênh điều khiển đi kèm TCH/SDCCH, truyền thông tin điều chỉnh công suất, đo chất lượng kênh, báo cáo đo lường định kỳ để duy trì kết nối ổn định.</a:t>
            </a:r>
          </a:p>
        </p:txBody>
      </p:sp>
      <p:sp>
        <p:nvSpPr>
          <p:cNvPr id="7" name="TextBox 7"/>
          <p:cNvSpPr txBox="1"/>
          <p:nvPr/>
        </p:nvSpPr>
        <p:spPr>
          <a:xfrm>
            <a:off x="1888726" y="6772661"/>
            <a:ext cx="15370574" cy="1894110"/>
          </a:xfrm>
          <a:prstGeom prst="rect">
            <a:avLst/>
          </a:prstGeom>
        </p:spPr>
        <p:txBody>
          <a:bodyPr lIns="0" tIns="0" rIns="0" bIns="0" rtlCol="0" anchor="t">
            <a:spAutoFit/>
          </a:bodyPr>
          <a:lstStyle/>
          <a:p>
            <a:pPr marL="693983" lvl="1" indent="-346992" algn="just">
              <a:lnSpc>
                <a:spcPts val="5142"/>
              </a:lnSpc>
              <a:buFont typeface="Arial"/>
              <a:buChar char="•"/>
            </a:pPr>
            <a:r>
              <a:rPr lang="en-US" sz="3214" b="1">
                <a:solidFill>
                  <a:srgbClr val="2C5C56"/>
                </a:solidFill>
                <a:latin typeface="Muli Bold"/>
                <a:ea typeface="Muli Bold"/>
                <a:cs typeface="Muli Bold"/>
                <a:sym typeface="Muli Bold"/>
              </a:rPr>
              <a:t>FACCH (Fast Associated Control Channel): </a:t>
            </a:r>
            <a:r>
              <a:rPr lang="en-US" sz="3214">
                <a:solidFill>
                  <a:srgbClr val="2C5C56"/>
                </a:solidFill>
                <a:latin typeface="Muli"/>
                <a:ea typeface="Muli"/>
                <a:cs typeface="Muli"/>
                <a:sym typeface="Muli"/>
              </a:rPr>
              <a:t>Kênh điều khiển ưu tiên, tạm chiếm khung TCH để gửi nhanh lệnh quan trọng (như handover). Sau khi xong, FACCH trả khung lại cho TCH.</a:t>
            </a:r>
          </a:p>
        </p:txBody>
      </p:sp>
      <p:sp>
        <p:nvSpPr>
          <p:cNvPr id="8" name="Freeform 8"/>
          <p:cNvSpPr/>
          <p:nvPr/>
        </p:nvSpPr>
        <p:spPr>
          <a:xfrm rot="2700000">
            <a:off x="15258138" y="-1330975"/>
            <a:ext cx="4002324" cy="3980493"/>
          </a:xfrm>
          <a:custGeom>
            <a:avLst/>
            <a:gdLst/>
            <a:ahLst/>
            <a:cxnLst/>
            <a:rect l="l" t="t" r="r" b="b"/>
            <a:pathLst>
              <a:path w="4002324" h="3980493">
                <a:moveTo>
                  <a:pt x="0" y="0"/>
                </a:moveTo>
                <a:lnTo>
                  <a:pt x="4002324" y="0"/>
                </a:lnTo>
                <a:lnTo>
                  <a:pt x="4002324" y="3980493"/>
                </a:lnTo>
                <a:lnTo>
                  <a:pt x="0" y="398049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346665">
            <a:off x="13698353" y="-2914049"/>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346665">
            <a:off x="7839395" y="-5228658"/>
            <a:ext cx="7202852" cy="7163563"/>
          </a:xfrm>
          <a:custGeom>
            <a:avLst/>
            <a:gdLst/>
            <a:ahLst/>
            <a:cxnLst/>
            <a:rect l="l" t="t" r="r" b="b"/>
            <a:pathLst>
              <a:path w="7202852" h="7163563">
                <a:moveTo>
                  <a:pt x="0" y="0"/>
                </a:moveTo>
                <a:lnTo>
                  <a:pt x="7202852" y="0"/>
                </a:lnTo>
                <a:lnTo>
                  <a:pt x="7202852" y="7163563"/>
                </a:lnTo>
                <a:lnTo>
                  <a:pt x="0" y="7163563"/>
                </a:lnTo>
                <a:lnTo>
                  <a:pt x="0" y="0"/>
                </a:lnTo>
                <a:close/>
              </a:path>
            </a:pathLst>
          </a:custGeom>
          <a:blipFill>
            <a:blip r:embed="rId2">
              <a:alphaModFix amt="26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649565" y="1390739"/>
            <a:ext cx="11622981" cy="3305175"/>
          </a:xfrm>
          <a:prstGeom prst="rect">
            <a:avLst/>
          </a:prstGeom>
        </p:spPr>
        <p:txBody>
          <a:bodyPr lIns="0" tIns="0" rIns="0" bIns="0" rtlCol="0" anchor="t">
            <a:spAutoFit/>
          </a:bodyPr>
          <a:lstStyle/>
          <a:p>
            <a:pPr algn="l">
              <a:lnSpc>
                <a:spcPts val="8759"/>
              </a:lnSpc>
            </a:pPr>
            <a:r>
              <a:rPr lang="en-US" sz="7299">
                <a:solidFill>
                  <a:srgbClr val="FF7C64"/>
                </a:solidFill>
                <a:latin typeface="Oswald"/>
                <a:ea typeface="Oswald"/>
                <a:cs typeface="Oswald"/>
                <a:sym typeface="Oswald"/>
              </a:rPr>
              <a:t>Quy trình thiết lập cuộc gọi (Đơn giản hóa)</a:t>
            </a:r>
          </a:p>
          <a:p>
            <a:pPr algn="l">
              <a:lnSpc>
                <a:spcPts val="8759"/>
              </a:lnSpc>
            </a:pPr>
            <a:endParaRPr lang="en-US" sz="7299">
              <a:solidFill>
                <a:srgbClr val="FF7C64"/>
              </a:solidFill>
              <a:latin typeface="Oswald"/>
              <a:ea typeface="Oswald"/>
              <a:cs typeface="Oswald"/>
              <a:sym typeface="Oswald"/>
            </a:endParaRPr>
          </a:p>
        </p:txBody>
      </p:sp>
      <p:sp>
        <p:nvSpPr>
          <p:cNvPr id="5" name="AutoShape 5"/>
          <p:cNvSpPr/>
          <p:nvPr/>
        </p:nvSpPr>
        <p:spPr>
          <a:xfrm flipV="1">
            <a:off x="1361478" y="5797406"/>
            <a:ext cx="15258359" cy="83344"/>
          </a:xfrm>
          <a:prstGeom prst="line">
            <a:avLst/>
          </a:prstGeom>
          <a:ln w="19050" cap="rnd">
            <a:solidFill>
              <a:srgbClr val="102B30">
                <a:alpha val="34902"/>
              </a:srgbClr>
            </a:solidFill>
            <a:prstDash val="solid"/>
            <a:headEnd type="none" w="sm" len="sm"/>
            <a:tailEnd type="none" w="sm" len="sm"/>
          </a:ln>
        </p:spPr>
        <p:txBody>
          <a:bodyPr/>
          <a:lstStyle/>
          <a:p>
            <a:endParaRPr lang="en-US"/>
          </a:p>
        </p:txBody>
      </p:sp>
      <p:grpSp>
        <p:nvGrpSpPr>
          <p:cNvPr id="6" name="Group 6"/>
          <p:cNvGrpSpPr/>
          <p:nvPr/>
        </p:nvGrpSpPr>
        <p:grpSpPr>
          <a:xfrm>
            <a:off x="1217044" y="5797406"/>
            <a:ext cx="166688" cy="166688"/>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7C64"/>
            </a:solidFill>
          </p:spPr>
          <p:txBody>
            <a:bodyPr/>
            <a:lstStyle/>
            <a:p>
              <a:endParaRPr lang="en-US"/>
            </a:p>
          </p:txBody>
        </p:sp>
      </p:grpSp>
      <p:sp>
        <p:nvSpPr>
          <p:cNvPr id="8" name="TextBox 8"/>
          <p:cNvSpPr txBox="1"/>
          <p:nvPr/>
        </p:nvSpPr>
        <p:spPr>
          <a:xfrm>
            <a:off x="665398" y="4756861"/>
            <a:ext cx="1781350" cy="1457431"/>
          </a:xfrm>
          <a:prstGeom prst="rect">
            <a:avLst/>
          </a:prstGeom>
        </p:spPr>
        <p:txBody>
          <a:bodyPr lIns="0" tIns="0" rIns="0" bIns="0" rtlCol="0" anchor="t">
            <a:spAutoFit/>
          </a:bodyPr>
          <a:lstStyle/>
          <a:p>
            <a:pPr algn="l">
              <a:lnSpc>
                <a:spcPts val="3919"/>
              </a:lnSpc>
            </a:pPr>
            <a:r>
              <a:rPr lang="en-US" sz="2799" b="1">
                <a:solidFill>
                  <a:srgbClr val="102B30"/>
                </a:solidFill>
                <a:latin typeface="Muli Semi-Bold"/>
                <a:ea typeface="Muli Semi-Bold"/>
                <a:cs typeface="Muli Semi-Bold"/>
                <a:sym typeface="Muli Semi-Bold"/>
              </a:rPr>
              <a:t>Bước 1: Yêu cầu</a:t>
            </a:r>
          </a:p>
          <a:p>
            <a:pPr algn="l">
              <a:lnSpc>
                <a:spcPts val="3919"/>
              </a:lnSpc>
            </a:pPr>
            <a:endParaRPr lang="en-US" sz="2799" b="1">
              <a:solidFill>
                <a:srgbClr val="102B30"/>
              </a:solidFill>
              <a:latin typeface="Muli Semi-Bold"/>
              <a:ea typeface="Muli Semi-Bold"/>
              <a:cs typeface="Muli Semi-Bold"/>
              <a:sym typeface="Muli Semi-Bold"/>
            </a:endParaRPr>
          </a:p>
        </p:txBody>
      </p:sp>
      <p:sp>
        <p:nvSpPr>
          <p:cNvPr id="9" name="TextBox 9"/>
          <p:cNvSpPr txBox="1"/>
          <p:nvPr/>
        </p:nvSpPr>
        <p:spPr>
          <a:xfrm>
            <a:off x="5964387" y="4756861"/>
            <a:ext cx="1655609" cy="1457431"/>
          </a:xfrm>
          <a:prstGeom prst="rect">
            <a:avLst/>
          </a:prstGeom>
        </p:spPr>
        <p:txBody>
          <a:bodyPr lIns="0" tIns="0" rIns="0" bIns="0" rtlCol="0" anchor="t">
            <a:spAutoFit/>
          </a:bodyPr>
          <a:lstStyle/>
          <a:p>
            <a:pPr algn="l">
              <a:lnSpc>
                <a:spcPts val="3919"/>
              </a:lnSpc>
            </a:pPr>
            <a:r>
              <a:rPr lang="en-US" sz="2799" b="1">
                <a:solidFill>
                  <a:srgbClr val="102B30"/>
                </a:solidFill>
                <a:latin typeface="Muli Semi-Bold"/>
                <a:ea typeface="Muli Semi-Bold"/>
                <a:cs typeface="Muli Semi-Bold"/>
                <a:sym typeface="Muli Semi-Bold"/>
              </a:rPr>
              <a:t>Bước 2: Cấp kênh</a:t>
            </a:r>
          </a:p>
          <a:p>
            <a:pPr algn="l">
              <a:lnSpc>
                <a:spcPts val="3919"/>
              </a:lnSpc>
            </a:pPr>
            <a:endParaRPr lang="en-US" sz="2799" b="1">
              <a:solidFill>
                <a:srgbClr val="102B30"/>
              </a:solidFill>
              <a:latin typeface="Muli Semi-Bold"/>
              <a:ea typeface="Muli Semi-Bold"/>
              <a:cs typeface="Muli Semi-Bold"/>
              <a:sym typeface="Muli Semi-Bold"/>
            </a:endParaRPr>
          </a:p>
        </p:txBody>
      </p:sp>
      <p:sp>
        <p:nvSpPr>
          <p:cNvPr id="10" name="TextBox 10"/>
          <p:cNvSpPr txBox="1"/>
          <p:nvPr/>
        </p:nvSpPr>
        <p:spPr>
          <a:xfrm>
            <a:off x="10843484" y="4695914"/>
            <a:ext cx="1788764" cy="1457431"/>
          </a:xfrm>
          <a:prstGeom prst="rect">
            <a:avLst/>
          </a:prstGeom>
        </p:spPr>
        <p:txBody>
          <a:bodyPr lIns="0" tIns="0" rIns="0" bIns="0" rtlCol="0" anchor="t">
            <a:spAutoFit/>
          </a:bodyPr>
          <a:lstStyle/>
          <a:p>
            <a:pPr algn="l">
              <a:lnSpc>
                <a:spcPts val="3919"/>
              </a:lnSpc>
            </a:pPr>
            <a:r>
              <a:rPr lang="en-US" sz="2799" b="1">
                <a:solidFill>
                  <a:srgbClr val="102B30"/>
                </a:solidFill>
                <a:latin typeface="Muli Semi-Bold"/>
                <a:ea typeface="Muli Semi-Bold"/>
                <a:cs typeface="Muli Semi-Bold"/>
                <a:sym typeface="Muli Semi-Bold"/>
              </a:rPr>
              <a:t>Bước 3: Báo hiệu</a:t>
            </a:r>
          </a:p>
          <a:p>
            <a:pPr algn="l">
              <a:lnSpc>
                <a:spcPts val="3919"/>
              </a:lnSpc>
            </a:pPr>
            <a:endParaRPr lang="en-US" sz="2799" b="1">
              <a:solidFill>
                <a:srgbClr val="102B30"/>
              </a:solidFill>
              <a:latin typeface="Muli Semi-Bold"/>
              <a:ea typeface="Muli Semi-Bold"/>
              <a:cs typeface="Muli Semi-Bold"/>
              <a:sym typeface="Muli Semi-Bold"/>
            </a:endParaRPr>
          </a:p>
        </p:txBody>
      </p:sp>
      <p:sp>
        <p:nvSpPr>
          <p:cNvPr id="11" name="TextBox 11"/>
          <p:cNvSpPr txBox="1"/>
          <p:nvPr/>
        </p:nvSpPr>
        <p:spPr>
          <a:xfrm>
            <a:off x="15851698" y="4659830"/>
            <a:ext cx="1854338" cy="1457431"/>
          </a:xfrm>
          <a:prstGeom prst="rect">
            <a:avLst/>
          </a:prstGeom>
        </p:spPr>
        <p:txBody>
          <a:bodyPr lIns="0" tIns="0" rIns="0" bIns="0" rtlCol="0" anchor="t">
            <a:spAutoFit/>
          </a:bodyPr>
          <a:lstStyle/>
          <a:p>
            <a:pPr algn="l">
              <a:lnSpc>
                <a:spcPts val="3919"/>
              </a:lnSpc>
            </a:pPr>
            <a:r>
              <a:rPr lang="en-US" sz="2799" b="1">
                <a:solidFill>
                  <a:srgbClr val="102B30"/>
                </a:solidFill>
                <a:latin typeface="Muli Semi-Bold"/>
                <a:ea typeface="Muli Semi-Bold"/>
                <a:cs typeface="Muli Semi-Bold"/>
                <a:sym typeface="Muli Semi-Bold"/>
              </a:rPr>
              <a:t>Bước 4: Đàm thoại</a:t>
            </a:r>
          </a:p>
          <a:p>
            <a:pPr algn="l">
              <a:lnSpc>
                <a:spcPts val="3919"/>
              </a:lnSpc>
            </a:pPr>
            <a:endParaRPr lang="en-US" sz="2799" b="1">
              <a:solidFill>
                <a:srgbClr val="102B30"/>
              </a:solidFill>
              <a:latin typeface="Muli Semi-Bold"/>
              <a:ea typeface="Muli Semi-Bold"/>
              <a:cs typeface="Muli Semi-Bold"/>
              <a:sym typeface="Muli Semi-Bold"/>
            </a:endParaRPr>
          </a:p>
        </p:txBody>
      </p:sp>
      <p:grpSp>
        <p:nvGrpSpPr>
          <p:cNvPr id="12" name="Group 12"/>
          <p:cNvGrpSpPr/>
          <p:nvPr/>
        </p:nvGrpSpPr>
        <p:grpSpPr>
          <a:xfrm>
            <a:off x="6294368" y="5797406"/>
            <a:ext cx="166688" cy="166688"/>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7C64"/>
            </a:solidFill>
          </p:spPr>
          <p:txBody>
            <a:bodyPr/>
            <a:lstStyle/>
            <a:p>
              <a:endParaRPr lang="en-US"/>
            </a:p>
          </p:txBody>
        </p:sp>
      </p:grpSp>
      <p:grpSp>
        <p:nvGrpSpPr>
          <p:cNvPr id="14" name="Group 14"/>
          <p:cNvGrpSpPr/>
          <p:nvPr/>
        </p:nvGrpSpPr>
        <p:grpSpPr>
          <a:xfrm>
            <a:off x="11274133" y="5714654"/>
            <a:ext cx="166688" cy="16668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7C64"/>
            </a:solidFill>
          </p:spPr>
          <p:txBody>
            <a:bodyPr/>
            <a:lstStyle/>
            <a:p>
              <a:endParaRPr lang="en-US"/>
            </a:p>
          </p:txBody>
        </p:sp>
      </p:grpSp>
      <p:grpSp>
        <p:nvGrpSpPr>
          <p:cNvPr id="16" name="Group 16"/>
          <p:cNvGrpSpPr/>
          <p:nvPr/>
        </p:nvGrpSpPr>
        <p:grpSpPr>
          <a:xfrm>
            <a:off x="16453149" y="5714062"/>
            <a:ext cx="166688" cy="16668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7C64"/>
            </a:solidFill>
          </p:spPr>
          <p:txBody>
            <a:bodyPr/>
            <a:lstStyle/>
            <a:p>
              <a:endParaRPr lang="en-US"/>
            </a:p>
          </p:txBody>
        </p:sp>
      </p:grpSp>
      <p:sp>
        <p:nvSpPr>
          <p:cNvPr id="18" name="TextBox 18"/>
          <p:cNvSpPr txBox="1"/>
          <p:nvPr/>
        </p:nvSpPr>
        <p:spPr>
          <a:xfrm>
            <a:off x="552362" y="6261916"/>
            <a:ext cx="2938296" cy="1759128"/>
          </a:xfrm>
          <a:prstGeom prst="rect">
            <a:avLst/>
          </a:prstGeom>
        </p:spPr>
        <p:txBody>
          <a:bodyPr lIns="0" tIns="0" rIns="0" bIns="0" rtlCol="0" anchor="t">
            <a:spAutoFit/>
          </a:bodyPr>
          <a:lstStyle/>
          <a:p>
            <a:pPr algn="l">
              <a:lnSpc>
                <a:spcPts val="3512"/>
              </a:lnSpc>
            </a:pPr>
            <a:r>
              <a:rPr lang="en-US" sz="2508">
                <a:solidFill>
                  <a:srgbClr val="102B30"/>
                </a:solidFill>
                <a:latin typeface="Muli Extra-Light"/>
                <a:ea typeface="Muli Extra-Light"/>
                <a:cs typeface="Muli Extra-Light"/>
                <a:sym typeface="Muli Extra-Light"/>
              </a:rPr>
              <a:t>MS gửi yêu cầu truy nhập mạng trên kênh RACH (Uplink).</a:t>
            </a:r>
          </a:p>
          <a:p>
            <a:pPr algn="l">
              <a:lnSpc>
                <a:spcPts val="3512"/>
              </a:lnSpc>
            </a:pPr>
            <a:endParaRPr lang="en-US" sz="2508">
              <a:solidFill>
                <a:srgbClr val="102B30"/>
              </a:solidFill>
              <a:latin typeface="Muli Extra-Light"/>
              <a:ea typeface="Muli Extra-Light"/>
              <a:cs typeface="Muli Extra-Light"/>
              <a:sym typeface="Muli Extra-Light"/>
            </a:endParaRPr>
          </a:p>
        </p:txBody>
      </p:sp>
      <p:sp>
        <p:nvSpPr>
          <p:cNvPr id="19" name="TextBox 19"/>
          <p:cNvSpPr txBox="1"/>
          <p:nvPr/>
        </p:nvSpPr>
        <p:spPr>
          <a:xfrm>
            <a:off x="5449856" y="6166666"/>
            <a:ext cx="2938296" cy="2646743"/>
          </a:xfrm>
          <a:prstGeom prst="rect">
            <a:avLst/>
          </a:prstGeom>
        </p:spPr>
        <p:txBody>
          <a:bodyPr lIns="0" tIns="0" rIns="0" bIns="0" rtlCol="0" anchor="t">
            <a:spAutoFit/>
          </a:bodyPr>
          <a:lstStyle/>
          <a:p>
            <a:pPr algn="l">
              <a:lnSpc>
                <a:spcPts val="3512"/>
              </a:lnSpc>
            </a:pPr>
            <a:r>
              <a:rPr lang="en-US" sz="2508">
                <a:solidFill>
                  <a:srgbClr val="102B30"/>
                </a:solidFill>
                <a:latin typeface="Muli Extra-Light"/>
                <a:ea typeface="Muli Extra-Light"/>
                <a:cs typeface="Muli Extra-Light"/>
                <a:sym typeface="Muli Extra-Light"/>
              </a:rPr>
              <a:t>Mạng phản hồi trên AGCH, chỉ định một kênh SDCCH chuyên dụng cho MS.</a:t>
            </a:r>
          </a:p>
          <a:p>
            <a:pPr algn="l">
              <a:lnSpc>
                <a:spcPts val="3512"/>
              </a:lnSpc>
            </a:pPr>
            <a:endParaRPr lang="en-US" sz="2508">
              <a:solidFill>
                <a:srgbClr val="102B30"/>
              </a:solidFill>
              <a:latin typeface="Muli Extra-Light"/>
              <a:ea typeface="Muli Extra-Light"/>
              <a:cs typeface="Muli Extra-Light"/>
              <a:sym typeface="Muli Extra-Light"/>
            </a:endParaRPr>
          </a:p>
        </p:txBody>
      </p:sp>
      <p:sp>
        <p:nvSpPr>
          <p:cNvPr id="20" name="TextBox 20"/>
          <p:cNvSpPr txBox="1"/>
          <p:nvPr/>
        </p:nvSpPr>
        <p:spPr>
          <a:xfrm>
            <a:off x="10347350" y="6071416"/>
            <a:ext cx="2938296" cy="2202936"/>
          </a:xfrm>
          <a:prstGeom prst="rect">
            <a:avLst/>
          </a:prstGeom>
        </p:spPr>
        <p:txBody>
          <a:bodyPr lIns="0" tIns="0" rIns="0" bIns="0" rtlCol="0" anchor="t">
            <a:spAutoFit/>
          </a:bodyPr>
          <a:lstStyle/>
          <a:p>
            <a:pPr algn="l">
              <a:lnSpc>
                <a:spcPts val="3512"/>
              </a:lnSpc>
            </a:pPr>
            <a:r>
              <a:rPr lang="en-US" sz="2508">
                <a:solidFill>
                  <a:srgbClr val="102B30"/>
                </a:solidFill>
                <a:latin typeface="Muli Extra-Light"/>
                <a:ea typeface="Muli Extra-Light"/>
                <a:cs typeface="Muli Extra-Light"/>
                <a:sym typeface="Muli Extra-Light"/>
              </a:rPr>
              <a:t>Quá trình xác thực, mã hóa và thiết lập cuộc gọi diễn ra trên kênh SDCCH.</a:t>
            </a:r>
          </a:p>
          <a:p>
            <a:pPr algn="l">
              <a:lnSpc>
                <a:spcPts val="3512"/>
              </a:lnSpc>
            </a:pPr>
            <a:endParaRPr lang="en-US" sz="2508">
              <a:solidFill>
                <a:srgbClr val="102B30"/>
              </a:solidFill>
              <a:latin typeface="Muli Extra-Light"/>
              <a:ea typeface="Muli Extra-Light"/>
              <a:cs typeface="Muli Extra-Light"/>
              <a:sym typeface="Muli Extra-Light"/>
            </a:endParaRPr>
          </a:p>
        </p:txBody>
      </p:sp>
      <p:sp>
        <p:nvSpPr>
          <p:cNvPr id="21" name="TextBox 21"/>
          <p:cNvSpPr txBox="1"/>
          <p:nvPr/>
        </p:nvSpPr>
        <p:spPr>
          <a:xfrm>
            <a:off x="15067345" y="6105720"/>
            <a:ext cx="2938296" cy="3090551"/>
          </a:xfrm>
          <a:prstGeom prst="rect">
            <a:avLst/>
          </a:prstGeom>
        </p:spPr>
        <p:txBody>
          <a:bodyPr lIns="0" tIns="0" rIns="0" bIns="0" rtlCol="0" anchor="t">
            <a:spAutoFit/>
          </a:bodyPr>
          <a:lstStyle/>
          <a:p>
            <a:pPr algn="l">
              <a:lnSpc>
                <a:spcPts val="3512"/>
              </a:lnSpc>
            </a:pPr>
            <a:r>
              <a:rPr lang="en-US" sz="2508">
                <a:solidFill>
                  <a:srgbClr val="102B30"/>
                </a:solidFill>
                <a:latin typeface="Muli Extra-Light"/>
                <a:ea typeface="Muli Extra-Light"/>
                <a:cs typeface="Muli Extra-Light"/>
                <a:sym typeface="Muli Extra-Light"/>
              </a:rPr>
              <a:t>Mạng cấp kênh lưu lượng TCH (kèm SACCH/FACCH) cho cuộc gọi. Kênh SDCCH được giải phóng.</a:t>
            </a:r>
          </a:p>
          <a:p>
            <a:pPr algn="l">
              <a:lnSpc>
                <a:spcPts val="3512"/>
              </a:lnSpc>
            </a:pPr>
            <a:endParaRPr lang="en-US" sz="2508">
              <a:solidFill>
                <a:srgbClr val="102B30"/>
              </a:solidFill>
              <a:latin typeface="Muli Extra-Light"/>
              <a:ea typeface="Muli Extra-Light"/>
              <a:cs typeface="Muli Extra-Light"/>
              <a:sym typeface="Muli Extra-Light"/>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C5C56"/>
        </a:solidFill>
        <a:effectLst/>
      </p:bgPr>
    </p:bg>
    <p:spTree>
      <p:nvGrpSpPr>
        <p:cNvPr id="1" name=""/>
        <p:cNvGrpSpPr/>
        <p:nvPr/>
      </p:nvGrpSpPr>
      <p:grpSpPr>
        <a:xfrm>
          <a:off x="0" y="0"/>
          <a:ext cx="0" cy="0"/>
          <a:chOff x="0" y="0"/>
          <a:chExt cx="0" cy="0"/>
        </a:xfrm>
      </p:grpSpPr>
      <p:sp>
        <p:nvSpPr>
          <p:cNvPr id="2" name="Freeform 2"/>
          <p:cNvSpPr/>
          <p:nvPr/>
        </p:nvSpPr>
        <p:spPr>
          <a:xfrm rot="-895683">
            <a:off x="8996440" y="1205957"/>
            <a:ext cx="10692984" cy="10152935"/>
          </a:xfrm>
          <a:custGeom>
            <a:avLst/>
            <a:gdLst/>
            <a:ahLst/>
            <a:cxnLst/>
            <a:rect l="l" t="t" r="r" b="b"/>
            <a:pathLst>
              <a:path w="10692984" h="10152935">
                <a:moveTo>
                  <a:pt x="0" y="0"/>
                </a:moveTo>
                <a:lnTo>
                  <a:pt x="10692984" y="0"/>
                </a:lnTo>
                <a:lnTo>
                  <a:pt x="10692984" y="10152935"/>
                </a:lnTo>
                <a:lnTo>
                  <a:pt x="0" y="10152935"/>
                </a:lnTo>
                <a:lnTo>
                  <a:pt x="0" y="0"/>
                </a:lnTo>
                <a:close/>
              </a:path>
            </a:pathLst>
          </a:custGeom>
          <a:blipFill>
            <a:blip r:embed="rId2">
              <a:alphaModFix amt="3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593614" y="2088204"/>
            <a:ext cx="11185320" cy="4480783"/>
          </a:xfrm>
          <a:prstGeom prst="rect">
            <a:avLst/>
          </a:prstGeom>
        </p:spPr>
        <p:txBody>
          <a:bodyPr lIns="0" tIns="0" rIns="0" bIns="0" rtlCol="0" anchor="t">
            <a:spAutoFit/>
          </a:bodyPr>
          <a:lstStyle/>
          <a:p>
            <a:pPr algn="ctr">
              <a:lnSpc>
                <a:spcPts val="11852"/>
              </a:lnSpc>
            </a:pPr>
            <a:r>
              <a:rPr lang="en-US" sz="8466">
                <a:solidFill>
                  <a:srgbClr val="FF7C64"/>
                </a:solidFill>
                <a:latin typeface="OSP Le Patin Helvete"/>
                <a:ea typeface="OSP Le Patin Helvete"/>
                <a:cs typeface="OSP Le Patin Helvete"/>
                <a:sym typeface="OSP Le Patin Helvete"/>
              </a:rPr>
              <a:t>CẢM ƠN THẦY VÀ CÁC BẠN ĐÃ LẮNG NGHE</a:t>
            </a:r>
          </a:p>
        </p:txBody>
      </p:sp>
      <p:sp>
        <p:nvSpPr>
          <p:cNvPr id="4" name="Freeform 4"/>
          <p:cNvSpPr/>
          <p:nvPr/>
        </p:nvSpPr>
        <p:spPr>
          <a:xfrm rot="5400000">
            <a:off x="-1547115" y="-2016995"/>
            <a:ext cx="5856943" cy="5824996"/>
          </a:xfrm>
          <a:custGeom>
            <a:avLst/>
            <a:gdLst/>
            <a:ahLst/>
            <a:cxnLst/>
            <a:rect l="l" t="t" r="r" b="b"/>
            <a:pathLst>
              <a:path w="5856943" h="5824996">
                <a:moveTo>
                  <a:pt x="0" y="0"/>
                </a:moveTo>
                <a:lnTo>
                  <a:pt x="5856943" y="0"/>
                </a:lnTo>
                <a:lnTo>
                  <a:pt x="5856943" y="5824996"/>
                </a:lnTo>
                <a:lnTo>
                  <a:pt x="0" y="5824996"/>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rot="10486494">
            <a:off x="-3663054" y="2523768"/>
            <a:ext cx="5856943" cy="5824996"/>
          </a:xfrm>
          <a:custGeom>
            <a:avLst/>
            <a:gdLst/>
            <a:ahLst/>
            <a:cxnLst/>
            <a:rect l="l" t="t" r="r" b="b"/>
            <a:pathLst>
              <a:path w="5856943" h="5824996">
                <a:moveTo>
                  <a:pt x="0" y="0"/>
                </a:moveTo>
                <a:lnTo>
                  <a:pt x="5856943" y="0"/>
                </a:lnTo>
                <a:lnTo>
                  <a:pt x="5856943" y="5824996"/>
                </a:lnTo>
                <a:lnTo>
                  <a:pt x="0" y="5824996"/>
                </a:lnTo>
                <a:lnTo>
                  <a:pt x="0" y="0"/>
                </a:lnTo>
                <a:close/>
              </a:path>
            </a:pathLst>
          </a:custGeom>
          <a:blipFill>
            <a:blip r:embed="rId4">
              <a:alphaModFix amt="26000"/>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1581</Words>
  <Application>Microsoft Office PowerPoint</Application>
  <PresentationFormat>Custom</PresentationFormat>
  <Paragraphs>96</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Muli Semi-Bold</vt:lpstr>
      <vt:lpstr>Calibri</vt:lpstr>
      <vt:lpstr>Muli Bold</vt:lpstr>
      <vt:lpstr>Arial</vt:lpstr>
      <vt:lpstr>Oswald</vt:lpstr>
      <vt:lpstr>Muli</vt:lpstr>
      <vt:lpstr>OSP Le Patin Helvete</vt:lpstr>
      <vt:lpstr>Muli Extra-Light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Thêm tiêu đề</dc:title>
  <cp:lastModifiedBy>Phan Lê Ngọc Hồng</cp:lastModifiedBy>
  <cp:revision>3</cp:revision>
  <dcterms:created xsi:type="dcterms:W3CDTF">2006-08-16T00:00:00Z</dcterms:created>
  <dcterms:modified xsi:type="dcterms:W3CDTF">2025-12-03T06:16:26Z</dcterms:modified>
  <dc:identifier>DAG314udvuI</dc:identifier>
</cp:coreProperties>
</file>